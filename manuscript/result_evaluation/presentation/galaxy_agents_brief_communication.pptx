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adapted from Jeremy Goecks's title comment. The claim: AI agents can perform bioinformatics analyses through Galaxy as accurately as with custom code, and the analyses they produce are recorded, inspectable and rerunnable. Not the claim: a new benchmark, or that Galaxy beats custom code.</a:t>
            </a:r>
          </a:p>
          <a:p/>
          <a:p>
            <a:r>
              <a:t>Colours throughout: blue = Galaxy, vermillion = custom code.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P1. Agents are being used for biomedical data analysis, and benchmarks now test whether they can complete whole bioinformatics analyses. These benchmarks evaluate agents as programmers: each agent writes and runs its own code. Whether agents can work through a workbench to complete bioinformatics tasks as accurately as they can write code has not been tested.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P1: scientific workbenches such as Galaxy are a widely used alternative for people: versioned tools, managed compute, and histories that record parameters, inputs and outputs and can be shared, turned into workflows and rerun.</a:t>
            </a:r>
          </a:p>
          <a:p>
            <a:r>
              <a:t>P2: Galaxy provides a Model Context Protocol server that gives agents tool search, parameter descriptions, history inspection, job submission and monitoring, and user-defined tools (UDTs) for operations no installed tool covers.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claim (outline framing). Why it matters: the payoff in the abstract (structured record of every tool, parameter and dataset), P5 (agents as virtual users) and P6 (Galaxy makes rigor-improving approaches cheap; present as hypotheses this study did not test). Not the claim: a new benchmark ("Galaxy-Bench"), or that Galaxy beats custom code (Jeremy Goecks's review comments, 2026-09-07).</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P2. Two conditions defined once: Galaxy (all analysis runs as Galaxy jobs, including UDTs) and custom code (the agent installs software and writes its own code), with custom code as the baseline. Four model configurations in the Codex harness, 160 tasks (BixBench-Verified-50, CompBioBench, IWC-derived tasks), three replicates per task and condition, 3,840 runs. A run is correct when accepted (BixBench-Verified-50, CompBioBench) or at IWC output agreement &gt;= 0.99.</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P3 (numbers from PR #12, site-matched scores).</a:t>
            </a:r>
          </a:p>
          <a:p>
            <a:r>
              <a:t>BixBench-Verified-50: 87.2% custom code, 87.7% Galaxy, +0.5 (-3.9 to 4.8) points.</a:t>
            </a:r>
          </a:p>
          <a:p>
            <a:r>
              <a:t>CompBioBench: 86.7% and 87.0%, +0.3 (-1.8 to 2.5) points.</a:t>
            </a:r>
          </a:p>
          <a:p>
            <a:r>
              <a:t>IWC: output agreement 0.95 and 0.99, +0.036 (0.006 to 0.073); three tasks containing a zero-scored run account for most of the difference.</a:t>
            </a:r>
          </a:p>
          <a:p>
            <a:r>
              <a:t>Robustness: removing 15 BixBench tasks with audited benchmark-side problems or 66 CompBioBench task-configuration cells keeps both differences within about one point of zero.</a:t>
            </a:r>
          </a:p>
          <a:p>
            <a:r>
              <a:t>No per-model difference is significant after Holm adjustment. This does not establish equivalence.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P4. BixBench (151 incorrect runs, causes from execution traces): 71% came from the benchmark, an under-specified task or reference answer (94) or a scorer rejecting a valid answer (13); 25% were agent errors, no validation of the answer (32) or wrong biological or statistical knowledge (5); Galaxy itself caused 3, and 4 runs submitted no answer.</a:t>
            </a:r>
          </a:p>
          <a:p>
            <a:r>
              <a:t>Missing validation is a primary or secondary cause in 116 of the 151 incorrect runs; it often turns an ambiguous task into a confidently wrong answer. Example: bix-30-q3, failed custom-code runs added exclusions, normalization and a statistical test the task did not ask for (Galaxy 12/12 correct, custom code 4/12). Counter-example: CompBioBench variant-status-q1, Galaxy runs that added a read-position check were right.</a:t>
            </a:r>
          </a:p>
          <a:p>
            <a:r>
              <a:t>Incorrect runs in all-wrong replicate groups: 105 of 151 (BixBench), 144 of 316 (CompBioBench), 36 of 55 (IWC). When all three are wrong they usually give the same wrong answer (77-83% of such groups in BixBench, 61-64% in CompBioBench): the task or the answer key, not chance.</a:t>
            </a:r>
          </a:p>
          <a:p>
            <a:r>
              <a:t>CompBioBench and IWC have no failure-cause audit yet.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P4, consensus table (data/replicate_consensus.csv, rerun on PR #12 data).</a:t>
            </a:r>
          </a:p>
          <a:p>
            <a:r>
              <a:t>Single run / majority of 3 / at least 1 of 3 / majority of 12:</a:t>
            </a:r>
          </a:p>
          <a:p>
            <a:r>
              <a:t>BixBench Galaxy 87.7 / 88.0 / 91.5 / 92.0; custom code 87.2 / 89.5 / 91.0 / 90.0.</a:t>
            </a:r>
          </a:p>
          <a:p>
            <a:r>
              <a:t>CompBioBench Galaxy 87.0 / 87.3 / 94.3 / 91.0; custom code 86.7 / 89.0 / 93.8 / 89.0.</a:t>
            </a:r>
          </a:p>
          <a:p>
            <a:r>
              <a:t>IWC Galaxy 80.0 / 80.0 / 85.0 / 80.0; custom code 74.2 / 72.5 / 85.0 / 70.0 (updated for the wf_007 runs the site replaced on 12 Oct; the outline table predates that update).</a:t>
            </a:r>
          </a:p>
          <a:p>
            <a:r>
              <a:t>A majority over all 12 runs of a task reaches 89-92% on BixBench and CompBioBench. A text vote on BixBench scores below a single run, because 10% of groups with three correct runs gave differently worded correct answers. On IWC's continuous score the median of three raises mean agreement from 0.990 to 0.991 (Galaxy) and from 0.954 to 0.964 (custom code); the best of three reaches 0.995 and 0.994.</a:t>
            </a:r>
          </a:p>
          <a:p>
            <a:r>
              <a:t>Caveats: votes from correctness assume correct answers agree; ties count as incorrect; none of these strategies were run.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P5. What Galaxy adds: every Galaxy run leaves a structured record of tool identities and versions, requested and resolved parameters, datasets and job states; people can review it in Galaxy and rerun or continue it without model tokens. The example record also shows the PhyKIT version behind the bix-45-q1 systematic error.</a:t>
            </a:r>
          </a:p>
          <a:p>
            <a:r>
              <a:t>Where the tokens went (6 July experiment, GPT-5.5, 150 runs per condition): cached input was 95% of Galaxy tokens and output under 1%; Galaxy runs took 2.66x as many agent steps, each carrying 2.2x as much context.</a:t>
            </a:r>
          </a:p>
          <a:p>
            <a:r>
              <a:t>Stages: baseline about 20x; round 1 (prompt and skills) about 8x; round 1 rerun with replicates 5.48x; round 2 (MCP and execution) 2.81x, Galaxy tokens down 55.2%; round 2 with GPT-5.6 Sol 3.45x; round 3a (interface) 2.42x; round 3b (longer waits) 1.53x, 137/150 correct.</a:t>
            </a:r>
          </a:p>
          <a:p>
            <a:r>
              <a:t>Agents as virtual users: each overhead was found in agent traces, fixed in the interface, and the benchmark rerun to measure the effect.</a:t>
            </a:r>
          </a:p>
          <a:p>
            <a:r>
              <a:t>Caveats: not a controlled ablation (the model alone moves the ratio, 2.81x vs 3.45x); baseline and round 1 used one run per task and need run records before they can be cited; round 3 is one benchmark and one model; the main Galaxy results use the round-2 interface.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claim and the four results. P6: Galaxy makes rigor-improving approaches cheap, such as running several methods for the same step and comparing them, or validating results before reporting; these are hypotheses this study did not test. Agents as virtual users: run agents on representative tasks, attribute cost and failure to specific interface features, fix them, and re-measure. Limitations: a fixed set of models and benchmarks, prompts that differ between conditions, and models that change quickly.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92608" cy="6858000"/>
          </a:xfrm>
          <a:prstGeom prst="rect">
            <a:avLst/>
          </a:prstGeom>
          <a:solidFill>
            <a:srgbClr val="0072B2"/>
          </a:solidFill>
          <a:ln>
            <a:noFill/>
          </a:ln>
          <a:effectLst/>
        </p:spPr>
        <p:txBody>
          <a:bodyPr rtlCol="0" anchor="ctr"/>
          <a:lstStyle/>
          <a:p/>
        </p:txBody>
      </p:sp>
      <p:sp>
        <p:nvSpPr>
          <p:cNvPr id="3" name="Rectangle 2"/>
          <p:cNvSpPr/>
          <p:nvPr/>
        </p:nvSpPr>
        <p:spPr>
          <a:xfrm>
            <a:off x="292608" y="0"/>
            <a:ext cx="91440" cy="6858000"/>
          </a:xfrm>
          <a:prstGeom prst="rect">
            <a:avLst/>
          </a:prstGeom>
          <a:solidFill>
            <a:srgbClr val="D55E00"/>
          </a:solidFill>
          <a:ln>
            <a:noFill/>
          </a:ln>
          <a:effectLst/>
        </p:spPr>
        <p:txBody>
          <a:bodyPr rtlCol="0" anchor="ctr"/>
          <a:lstStyle/>
          <a:p/>
        </p:txBody>
      </p:sp>
      <p:sp>
        <p:nvSpPr>
          <p:cNvPr id="4" name="TextBox 3"/>
          <p:cNvSpPr txBox="1"/>
          <p:nvPr/>
        </p:nvSpPr>
        <p:spPr>
          <a:xfrm>
            <a:off x="1005840" y="1234440"/>
            <a:ext cx="10058400" cy="2103120"/>
          </a:xfrm>
          <a:prstGeom prst="rect">
            <a:avLst/>
          </a:prstGeom>
          <a:noFill/>
        </p:spPr>
        <p:txBody>
          <a:bodyPr wrap="square" lIns="0" rIns="0" tIns="0" bIns="0" anchor="t">
            <a:spAutoFit/>
          </a:bodyPr>
          <a:lstStyle/>
          <a:p>
            <a:pPr algn="l">
              <a:lnSpc>
                <a:spcPct val="100000"/>
              </a:lnSpc>
              <a:spcAft>
                <a:spcPts val="600"/>
              </a:spcAft>
            </a:pPr>
            <a:r>
              <a:rPr sz="4000" b="1" i="0">
                <a:solidFill>
                  <a:srgbClr val="1A1A1A"/>
                </a:solidFill>
                <a:latin typeface="Arial"/>
              </a:rPr>
              <a:t>AI agents can perform accurate bioinformatics analyses through a computational workbench</a:t>
            </a:r>
          </a:p>
        </p:txBody>
      </p:sp>
      <p:sp>
        <p:nvSpPr>
          <p:cNvPr id="5" name="TextBox 4"/>
          <p:cNvSpPr txBox="1"/>
          <p:nvPr/>
        </p:nvSpPr>
        <p:spPr>
          <a:xfrm>
            <a:off x="1005840" y="3429000"/>
            <a:ext cx="10058400" cy="822960"/>
          </a:xfrm>
          <a:prstGeom prst="rect">
            <a:avLst/>
          </a:prstGeom>
          <a:noFill/>
        </p:spPr>
        <p:txBody>
          <a:bodyPr wrap="square" lIns="0" rIns="0" tIns="0" bIns="0" anchor="t">
            <a:spAutoFit/>
          </a:bodyPr>
          <a:lstStyle/>
          <a:p>
            <a:pPr algn="l">
              <a:lnSpc>
                <a:spcPct val="110000"/>
              </a:lnSpc>
              <a:spcAft>
                <a:spcPts val="600"/>
              </a:spcAft>
            </a:pPr>
            <a:r>
              <a:rPr sz="2000" b="0" i="0">
                <a:solidFill>
                  <a:srgbClr val="555555"/>
                </a:solidFill>
                <a:latin typeface="Arial"/>
              </a:rPr>
              <a:t>Agents working in Galaxy compared with agents writing custom code: 160 tasks, three benchmarks, four models</a:t>
            </a:r>
          </a:p>
        </p:txBody>
      </p:sp>
      <p:sp>
        <p:nvSpPr>
          <p:cNvPr id="6" name="Rectangle 5"/>
          <p:cNvSpPr/>
          <p:nvPr/>
        </p:nvSpPr>
        <p:spPr>
          <a:xfrm>
            <a:off x="1005840" y="4526280"/>
            <a:ext cx="1097280" cy="45720"/>
          </a:xfrm>
          <a:prstGeom prst="rect">
            <a:avLst/>
          </a:prstGeom>
          <a:solidFill>
            <a:srgbClr val="D9DDE0"/>
          </a:solidFill>
          <a:ln>
            <a:noFill/>
          </a:ln>
          <a:effectLst/>
        </p:spPr>
        <p:txBody>
          <a:bodyPr rtlCol="0" anchor="ctr"/>
          <a:lstStyle/>
          <a:p/>
        </p:txBody>
      </p:sp>
      <p:sp>
        <p:nvSpPr>
          <p:cNvPr id="7" name="TextBox 6"/>
          <p:cNvSpPr txBox="1"/>
          <p:nvPr/>
        </p:nvSpPr>
        <p:spPr>
          <a:xfrm>
            <a:off x="1005840" y="4754880"/>
            <a:ext cx="8229600" cy="411480"/>
          </a:xfrm>
          <a:prstGeom prst="rect">
            <a:avLst/>
          </a:prstGeom>
          <a:noFill/>
        </p:spPr>
        <p:txBody>
          <a:bodyPr wrap="square" lIns="0" rIns="0" tIns="0" bIns="0" anchor="t">
            <a:spAutoFit/>
          </a:bodyPr>
          <a:lstStyle/>
          <a:p>
            <a:pPr algn="l">
              <a:lnSpc>
                <a:spcPct val="110000"/>
              </a:lnSpc>
              <a:spcAft>
                <a:spcPts val="600"/>
              </a:spcAft>
            </a:pPr>
            <a:r>
              <a:rPr sz="2200" b="1" i="0">
                <a:solidFill>
                  <a:srgbClr val="1A1A1A"/>
                </a:solidFill>
                <a:latin typeface="Arial"/>
              </a:rPr>
              <a:t>Paulo Cilas Morais Lyra</a:t>
            </a:r>
          </a:p>
        </p:txBody>
      </p:sp>
      <p:sp>
        <p:nvSpPr>
          <p:cNvPr id="8" name="TextBox 7"/>
          <p:cNvSpPr txBox="1"/>
          <p:nvPr/>
        </p:nvSpPr>
        <p:spPr>
          <a:xfrm>
            <a:off x="1005840" y="5212080"/>
            <a:ext cx="8229600" cy="365760"/>
          </a:xfrm>
          <a:prstGeom prst="rect">
            <a:avLst/>
          </a:prstGeom>
          <a:noFill/>
        </p:spPr>
        <p:txBody>
          <a:bodyPr wrap="square" lIns="0" rIns="0" tIns="0" bIns="0" anchor="t">
            <a:spAutoFit/>
          </a:bodyPr>
          <a:lstStyle/>
          <a:p>
            <a:pPr algn="l">
              <a:lnSpc>
                <a:spcPct val="110000"/>
              </a:lnSpc>
              <a:spcAft>
                <a:spcPts val="600"/>
              </a:spcAft>
            </a:pPr>
            <a:r>
              <a:rPr sz="1600" b="0" i="0">
                <a:solidFill>
                  <a:srgbClr val="555555"/>
                </a:solidFill>
                <a:latin typeface="Arial"/>
              </a:rPr>
              <a:t>Goecks Lab · Moffitt Cancer Center</a:t>
            </a:r>
          </a:p>
        </p:txBody>
      </p:sp>
      <p:sp>
        <p:nvSpPr>
          <p:cNvPr id="9" name="TextBox 8"/>
          <p:cNvSpPr txBox="1"/>
          <p:nvPr/>
        </p:nvSpPr>
        <p:spPr>
          <a:xfrm>
            <a:off x="1005840" y="5577840"/>
            <a:ext cx="8229600" cy="365760"/>
          </a:xfrm>
          <a:prstGeom prst="rect">
            <a:avLst/>
          </a:prstGeom>
          <a:noFill/>
        </p:spPr>
        <p:txBody>
          <a:bodyPr wrap="square" lIns="0" rIns="0" tIns="0" bIns="0" anchor="t">
            <a:spAutoFit/>
          </a:bodyPr>
          <a:lstStyle/>
          <a:p>
            <a:pPr algn="l">
              <a:lnSpc>
                <a:spcPct val="110000"/>
              </a:lnSpc>
              <a:spcAft>
                <a:spcPts val="600"/>
              </a:spcAft>
            </a:pPr>
            <a:r>
              <a:rPr sz="1600" b="0" i="0">
                <a:solidFill>
                  <a:srgbClr val="555555"/>
                </a:solidFill>
                <a:latin typeface="Arial"/>
              </a:rPr>
              <a:t>October 2026</a:t>
            </a:r>
          </a:p>
        </p:txBody>
      </p:sp>
      <p:sp>
        <p:nvSpPr>
          <p:cNvPr id="10" name="Oval 9"/>
          <p:cNvSpPr/>
          <p:nvPr/>
        </p:nvSpPr>
        <p:spPr>
          <a:xfrm>
            <a:off x="9052560" y="6044183"/>
            <a:ext cx="155448" cy="155448"/>
          </a:xfrm>
          <a:prstGeom prst="ellipse">
            <a:avLst/>
          </a:prstGeom>
          <a:solidFill>
            <a:srgbClr val="0072B2"/>
          </a:solidFill>
          <a:ln>
            <a:noFill/>
          </a:ln>
          <a:effectLst/>
        </p:spPr>
        <p:txBody>
          <a:bodyPr rtlCol="0" anchor="ctr"/>
          <a:lstStyle/>
          <a:p>
            <a:pPr algn="ctr"/>
          </a:p>
        </p:txBody>
      </p:sp>
      <p:sp>
        <p:nvSpPr>
          <p:cNvPr id="11" name="TextBox 10"/>
          <p:cNvSpPr txBox="1"/>
          <p:nvPr/>
        </p:nvSpPr>
        <p:spPr>
          <a:xfrm>
            <a:off x="9299448" y="5989320"/>
            <a:ext cx="2743200" cy="274320"/>
          </a:xfrm>
          <a:prstGeom prst="rect">
            <a:avLst/>
          </a:prstGeom>
          <a:noFill/>
        </p:spPr>
        <p:txBody>
          <a:bodyPr wrap="square" lIns="0" rIns="0" tIns="0" bIns="0" anchor="t">
            <a:spAutoFit/>
          </a:bodyPr>
          <a:lstStyle/>
          <a:p>
            <a:pPr algn="l">
              <a:lnSpc>
                <a:spcPct val="110000"/>
              </a:lnSpc>
              <a:spcAft>
                <a:spcPts val="600"/>
              </a:spcAft>
            </a:pPr>
            <a:r>
              <a:rPr sz="1300" b="0" i="0">
                <a:solidFill>
                  <a:srgbClr val="1A1A1A"/>
                </a:solidFill>
                <a:latin typeface="Arial"/>
              </a:rPr>
              <a:t>Galaxy</a:t>
            </a:r>
          </a:p>
        </p:txBody>
      </p:sp>
      <p:sp>
        <p:nvSpPr>
          <p:cNvPr id="12" name="Rectangle 11"/>
          <p:cNvSpPr/>
          <p:nvPr/>
        </p:nvSpPr>
        <p:spPr>
          <a:xfrm>
            <a:off x="10104120" y="6044183"/>
            <a:ext cx="155448" cy="155448"/>
          </a:xfrm>
          <a:prstGeom prst="rect">
            <a:avLst/>
          </a:prstGeom>
          <a:solidFill>
            <a:srgbClr val="D55E00"/>
          </a:solidFill>
          <a:ln>
            <a:noFill/>
          </a:ln>
          <a:effectLst/>
        </p:spPr>
        <p:txBody>
          <a:bodyPr rtlCol="0" anchor="ctr"/>
          <a:lstStyle/>
          <a:p>
            <a:pPr algn="ctr"/>
          </a:p>
        </p:txBody>
      </p:sp>
      <p:sp>
        <p:nvSpPr>
          <p:cNvPr id="13" name="TextBox 12"/>
          <p:cNvSpPr txBox="1"/>
          <p:nvPr/>
        </p:nvSpPr>
        <p:spPr>
          <a:xfrm>
            <a:off x="10351008" y="5989320"/>
            <a:ext cx="2743200" cy="274320"/>
          </a:xfrm>
          <a:prstGeom prst="rect">
            <a:avLst/>
          </a:prstGeom>
          <a:noFill/>
        </p:spPr>
        <p:txBody>
          <a:bodyPr wrap="square" lIns="0" rIns="0" tIns="0" bIns="0" anchor="t">
            <a:spAutoFit/>
          </a:bodyPr>
          <a:lstStyle/>
          <a:p>
            <a:pPr algn="l">
              <a:lnSpc>
                <a:spcPct val="110000"/>
              </a:lnSpc>
              <a:spcAft>
                <a:spcPts val="600"/>
              </a:spcAft>
            </a:pPr>
            <a:r>
              <a:rPr sz="1300" b="0" i="0">
                <a:solidFill>
                  <a:srgbClr val="1A1A1A"/>
                </a:solidFill>
                <a:latin typeface="Arial"/>
              </a:rPr>
              <a:t>custom code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84048"/>
            <a:ext cx="73152" cy="274320"/>
          </a:xfrm>
          <a:prstGeom prst="rect">
            <a:avLst/>
          </a:prstGeom>
          <a:solidFill>
            <a:srgbClr val="0072B2"/>
          </a:solidFill>
          <a:ln>
            <a:noFill/>
          </a:ln>
          <a:effectLst/>
        </p:spPr>
        <p:txBody>
          <a:bodyPr rtlCol="0" anchor="ctr"/>
          <a:lstStyle/>
          <a:p/>
        </p:txBody>
      </p:sp>
      <p:sp>
        <p:nvSpPr>
          <p:cNvPr id="3" name="TextBox 2"/>
          <p:cNvSpPr txBox="1"/>
          <p:nvPr/>
        </p:nvSpPr>
        <p:spPr>
          <a:xfrm>
            <a:off x="731520" y="365760"/>
            <a:ext cx="10515600" cy="320040"/>
          </a:xfrm>
          <a:prstGeom prst="rect">
            <a:avLst/>
          </a:prstGeom>
          <a:noFill/>
        </p:spPr>
        <p:txBody>
          <a:bodyPr wrap="square" lIns="0" rIns="0" tIns="0" bIns="0" anchor="t">
            <a:spAutoFit/>
          </a:bodyPr>
          <a:lstStyle/>
          <a:p>
            <a:pPr algn="l">
              <a:lnSpc>
                <a:spcPct val="110000"/>
              </a:lnSpc>
              <a:spcAft>
                <a:spcPts val="600"/>
              </a:spcAft>
            </a:pPr>
            <a:r>
              <a:rPr sz="1250" b="1" i="0">
                <a:solidFill>
                  <a:srgbClr val="555555"/>
                </a:solidFill>
                <a:latin typeface="Arial"/>
              </a:rPr>
              <a:t>INTRODUCTION · AGENTS</a:t>
            </a:r>
          </a:p>
        </p:txBody>
      </p:sp>
      <p:sp>
        <p:nvSpPr>
          <p:cNvPr id="4" name="TextBox 3"/>
          <p:cNvSpPr txBox="1"/>
          <p:nvPr/>
        </p:nvSpPr>
        <p:spPr>
          <a:xfrm>
            <a:off x="548640" y="749808"/>
            <a:ext cx="11064240" cy="1051560"/>
          </a:xfrm>
          <a:prstGeom prst="rect">
            <a:avLst/>
          </a:prstGeom>
          <a:noFill/>
        </p:spPr>
        <p:txBody>
          <a:bodyPr wrap="square" lIns="0" rIns="0" tIns="0" bIns="0" anchor="t">
            <a:spAutoFit/>
          </a:bodyPr>
          <a:lstStyle/>
          <a:p>
            <a:pPr algn="l">
              <a:lnSpc>
                <a:spcPct val="100000"/>
              </a:lnSpc>
              <a:spcAft>
                <a:spcPts val="600"/>
              </a:spcAft>
            </a:pPr>
            <a:r>
              <a:rPr sz="2700" b="1" i="0">
                <a:solidFill>
                  <a:srgbClr val="1A1A1A"/>
                </a:solidFill>
                <a:latin typeface="Arial"/>
              </a:rPr>
              <a:t>Agent benchmarks evaluate agents as programmers: each agent writes and runs its own code</a:t>
            </a:r>
          </a:p>
        </p:txBody>
      </p:sp>
      <p:sp>
        <p:nvSpPr>
          <p:cNvPr id="5" name="TextBox 4"/>
          <p:cNvSpPr txBox="1"/>
          <p:nvPr/>
        </p:nvSpPr>
        <p:spPr>
          <a:xfrm>
            <a:off x="548640" y="2057400"/>
            <a:ext cx="5120640" cy="3291840"/>
          </a:xfrm>
          <a:prstGeom prst="rect">
            <a:avLst/>
          </a:prstGeom>
          <a:noFill/>
        </p:spPr>
        <p:txBody>
          <a:bodyPr wrap="square" lIns="0" rIns="0" tIns="0" bIns="0" anchor="t">
            <a:spAutoFit/>
          </a:bodyPr>
          <a:lstStyle/>
          <a:p>
            <a:pPr algn="l" marL="219456" indent="-219456">
              <a:lnSpc>
                <a:spcPct val="110000"/>
              </a:lnSpc>
              <a:spcAft>
                <a:spcPts val="1600"/>
              </a:spcAft>
            </a:pPr>
            <a:r>
              <a:rPr sz="1900" b="1" i="0">
                <a:solidFill>
                  <a:srgbClr val="8A8A8A"/>
                </a:solidFill>
                <a:latin typeface="Arial"/>
              </a:rPr>
              <a:t>•  </a:t>
            </a:r>
            <a:r>
              <a:rPr sz="1900" b="0" i="0">
                <a:solidFill>
                  <a:srgbClr val="1A1A1A"/>
                </a:solidFill>
                <a:latin typeface="Arial"/>
              </a:rPr>
              <a:t>Agents are being used for biomedical data analysis.</a:t>
            </a:r>
          </a:p>
          <a:p>
            <a:pPr algn="l" marL="219456" indent="-219456">
              <a:lnSpc>
                <a:spcPct val="110000"/>
              </a:lnSpc>
              <a:spcAft>
                <a:spcPts val="1600"/>
              </a:spcAft>
            </a:pPr>
            <a:r>
              <a:rPr sz="1900" b="1" i="0">
                <a:solidFill>
                  <a:srgbClr val="8A8A8A"/>
                </a:solidFill>
                <a:latin typeface="Arial"/>
              </a:rPr>
              <a:t>•  </a:t>
            </a:r>
            <a:r>
              <a:rPr sz="1900" b="0" i="0">
                <a:solidFill>
                  <a:srgbClr val="1A1A1A"/>
                </a:solidFill>
                <a:latin typeface="Arial"/>
              </a:rPr>
              <a:t>Benchmarks now test whether they can complete whole bioinformatics analyses, for example BixBench-Verified-50 and CompBioBench.</a:t>
            </a:r>
          </a:p>
          <a:p>
            <a:pPr algn="l" marL="219456" indent="-219456">
              <a:lnSpc>
                <a:spcPct val="110000"/>
              </a:lnSpc>
              <a:spcAft>
                <a:spcPts val="1600"/>
              </a:spcAft>
            </a:pPr>
            <a:r>
              <a:rPr sz="1900" b="1" i="0">
                <a:solidFill>
                  <a:srgbClr val="8A8A8A"/>
                </a:solidFill>
                <a:latin typeface="Arial"/>
              </a:rPr>
              <a:t>•  </a:t>
            </a:r>
            <a:r>
              <a:rPr sz="1900" b="0" i="0">
                <a:solidFill>
                  <a:srgbClr val="1A1A1A"/>
                </a:solidFill>
                <a:latin typeface="Arial"/>
              </a:rPr>
              <a:t>These benchmarks evaluate agents as </a:t>
            </a:r>
            <a:r>
              <a:rPr sz="1900" b="1" i="0">
                <a:solidFill>
                  <a:srgbClr val="1A1A1A"/>
                </a:solidFill>
                <a:latin typeface="Arial"/>
              </a:rPr>
              <a:t>programmers</a:t>
            </a:r>
            <a:r>
              <a:rPr sz="1900" b="0" i="0">
                <a:solidFill>
                  <a:srgbClr val="1A1A1A"/>
                </a:solidFill>
                <a:latin typeface="Arial"/>
              </a:rPr>
              <a:t>: each agent writes and runs its own code.</a:t>
            </a:r>
          </a:p>
        </p:txBody>
      </p:sp>
      <p:sp>
        <p:nvSpPr>
          <p:cNvPr id="6" name="Rounded Rectangle 5"/>
          <p:cNvSpPr/>
          <p:nvPr/>
        </p:nvSpPr>
        <p:spPr>
          <a:xfrm>
            <a:off x="6675120" y="2011680"/>
            <a:ext cx="4480560" cy="658368"/>
          </a:xfrm>
          <a:prstGeom prst="roundRect">
            <a:avLst>
              <a:gd name="adj" fmla="val 8000"/>
            </a:avLst>
          </a:prstGeom>
          <a:solidFill>
            <a:srgbClr val="F4F5F6"/>
          </a:solidFill>
          <a:ln>
            <a:noFill/>
          </a:ln>
          <a:effectLst/>
        </p:spPr>
        <p:txBody>
          <a:bodyPr rtlCol="0" anchor="ctr"/>
          <a:lstStyle/>
          <a:p/>
        </p:txBody>
      </p:sp>
      <p:sp>
        <p:nvSpPr>
          <p:cNvPr id="7" name="TextBox 6"/>
          <p:cNvSpPr txBox="1"/>
          <p:nvPr/>
        </p:nvSpPr>
        <p:spPr>
          <a:xfrm>
            <a:off x="6903720" y="2084832"/>
            <a:ext cx="4114800" cy="274320"/>
          </a:xfrm>
          <a:prstGeom prst="rect">
            <a:avLst/>
          </a:prstGeom>
          <a:noFill/>
        </p:spPr>
        <p:txBody>
          <a:bodyPr wrap="square" lIns="0" rIns="0" tIns="0" bIns="0" anchor="t">
            <a:spAutoFit/>
          </a:bodyPr>
          <a:lstStyle/>
          <a:p>
            <a:pPr algn="l">
              <a:lnSpc>
                <a:spcPct val="110000"/>
              </a:lnSpc>
              <a:spcAft>
                <a:spcPts val="600"/>
              </a:spcAft>
            </a:pPr>
            <a:r>
              <a:rPr sz="1650" b="1" i="0">
                <a:solidFill>
                  <a:srgbClr val="1A1A1A"/>
                </a:solidFill>
                <a:latin typeface="Arial"/>
              </a:rPr>
              <a:t>Task and data</a:t>
            </a:r>
          </a:p>
        </p:txBody>
      </p:sp>
      <p:sp>
        <p:nvSpPr>
          <p:cNvPr id="8" name="TextBox 7"/>
          <p:cNvSpPr txBox="1"/>
          <p:nvPr/>
        </p:nvSpPr>
        <p:spPr>
          <a:xfrm>
            <a:off x="6903720" y="2377440"/>
            <a:ext cx="4114800" cy="274320"/>
          </a:xfrm>
          <a:prstGeom prst="rect">
            <a:avLst/>
          </a:prstGeom>
          <a:noFill/>
        </p:spPr>
        <p:txBody>
          <a:bodyPr wrap="square" lIns="0" rIns="0" tIns="0" bIns="0" anchor="t">
            <a:spAutoFit/>
          </a:bodyPr>
          <a:lstStyle/>
          <a:p>
            <a:pPr algn="l">
              <a:lnSpc>
                <a:spcPct val="110000"/>
              </a:lnSpc>
              <a:spcAft>
                <a:spcPts val="600"/>
              </a:spcAft>
            </a:pPr>
            <a:r>
              <a:rPr sz="1300" b="0" i="0">
                <a:solidFill>
                  <a:srgbClr val="555555"/>
                </a:solidFill>
                <a:latin typeface="Arial"/>
              </a:rPr>
              <a:t>a biomedical question</a:t>
            </a:r>
          </a:p>
        </p:txBody>
      </p:sp>
      <p:cxnSp>
        <p:nvCxnSpPr>
          <p:cNvPr id="9" name="Connector 8"/>
          <p:cNvCxnSpPr/>
          <p:nvPr/>
        </p:nvCxnSpPr>
        <p:spPr>
          <a:xfrm>
            <a:off x="8915400" y="2688336"/>
            <a:ext cx="0" cy="146304"/>
          </a:xfrm>
          <a:prstGeom prst="line">
            <a:avLst/>
          </a:prstGeom>
          <a:ln w="25400">
            <a:solidFill>
              <a:srgbClr val="8A8A8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675120" y="2852928"/>
            <a:ext cx="4480560" cy="658368"/>
          </a:xfrm>
          <a:prstGeom prst="roundRect">
            <a:avLst>
              <a:gd name="adj" fmla="val 8000"/>
            </a:avLst>
          </a:prstGeom>
          <a:solidFill>
            <a:srgbClr val="FBECE0"/>
          </a:solidFill>
          <a:ln>
            <a:noFill/>
          </a:ln>
          <a:effectLst/>
        </p:spPr>
        <p:txBody>
          <a:bodyPr rtlCol="0" anchor="ctr"/>
          <a:lstStyle/>
          <a:p/>
        </p:txBody>
      </p:sp>
      <p:sp>
        <p:nvSpPr>
          <p:cNvPr id="11" name="TextBox 10"/>
          <p:cNvSpPr txBox="1"/>
          <p:nvPr/>
        </p:nvSpPr>
        <p:spPr>
          <a:xfrm>
            <a:off x="6903720" y="2926080"/>
            <a:ext cx="4114800" cy="274320"/>
          </a:xfrm>
          <a:prstGeom prst="rect">
            <a:avLst/>
          </a:prstGeom>
          <a:noFill/>
        </p:spPr>
        <p:txBody>
          <a:bodyPr wrap="square" lIns="0" rIns="0" tIns="0" bIns="0" anchor="t">
            <a:spAutoFit/>
          </a:bodyPr>
          <a:lstStyle/>
          <a:p>
            <a:pPr algn="l">
              <a:lnSpc>
                <a:spcPct val="110000"/>
              </a:lnSpc>
              <a:spcAft>
                <a:spcPts val="600"/>
              </a:spcAft>
            </a:pPr>
            <a:r>
              <a:rPr sz="1650" b="1" i="0">
                <a:solidFill>
                  <a:srgbClr val="1A1A1A"/>
                </a:solidFill>
                <a:latin typeface="Arial"/>
              </a:rPr>
              <a:t>Agent writes code</a:t>
            </a:r>
          </a:p>
        </p:txBody>
      </p:sp>
      <p:sp>
        <p:nvSpPr>
          <p:cNvPr id="12" name="TextBox 11"/>
          <p:cNvSpPr txBox="1"/>
          <p:nvPr/>
        </p:nvSpPr>
        <p:spPr>
          <a:xfrm>
            <a:off x="6903720" y="3218688"/>
            <a:ext cx="4114800" cy="274320"/>
          </a:xfrm>
          <a:prstGeom prst="rect">
            <a:avLst/>
          </a:prstGeom>
          <a:noFill/>
        </p:spPr>
        <p:txBody>
          <a:bodyPr wrap="square" lIns="0" rIns="0" tIns="0" bIns="0" anchor="t">
            <a:spAutoFit/>
          </a:bodyPr>
          <a:lstStyle/>
          <a:p>
            <a:pPr algn="l">
              <a:lnSpc>
                <a:spcPct val="110000"/>
              </a:lnSpc>
              <a:spcAft>
                <a:spcPts val="600"/>
              </a:spcAft>
            </a:pPr>
            <a:r>
              <a:rPr sz="1300" b="0" i="0">
                <a:solidFill>
                  <a:srgbClr val="555555"/>
                </a:solidFill>
                <a:latin typeface="Arial"/>
              </a:rPr>
              <a:t>installs software, writes scripts</a:t>
            </a:r>
          </a:p>
        </p:txBody>
      </p:sp>
      <p:cxnSp>
        <p:nvCxnSpPr>
          <p:cNvPr id="13" name="Connector 12"/>
          <p:cNvCxnSpPr/>
          <p:nvPr/>
        </p:nvCxnSpPr>
        <p:spPr>
          <a:xfrm>
            <a:off x="8915400" y="3529584"/>
            <a:ext cx="0" cy="146304"/>
          </a:xfrm>
          <a:prstGeom prst="line">
            <a:avLst/>
          </a:prstGeom>
          <a:ln w="25400">
            <a:solidFill>
              <a:srgbClr val="8A8A8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675120" y="3694176"/>
            <a:ext cx="4480560" cy="658368"/>
          </a:xfrm>
          <a:prstGeom prst="roundRect">
            <a:avLst>
              <a:gd name="adj" fmla="val 8000"/>
            </a:avLst>
          </a:prstGeom>
          <a:solidFill>
            <a:srgbClr val="FBECE0"/>
          </a:solidFill>
          <a:ln>
            <a:noFill/>
          </a:ln>
          <a:effectLst/>
        </p:spPr>
        <p:txBody>
          <a:bodyPr rtlCol="0" anchor="ctr"/>
          <a:lstStyle/>
          <a:p/>
        </p:txBody>
      </p:sp>
      <p:sp>
        <p:nvSpPr>
          <p:cNvPr id="15" name="TextBox 14"/>
          <p:cNvSpPr txBox="1"/>
          <p:nvPr/>
        </p:nvSpPr>
        <p:spPr>
          <a:xfrm>
            <a:off x="6903720" y="3767328"/>
            <a:ext cx="4114800" cy="274320"/>
          </a:xfrm>
          <a:prstGeom prst="rect">
            <a:avLst/>
          </a:prstGeom>
          <a:noFill/>
        </p:spPr>
        <p:txBody>
          <a:bodyPr wrap="square" lIns="0" rIns="0" tIns="0" bIns="0" anchor="t">
            <a:spAutoFit/>
          </a:bodyPr>
          <a:lstStyle/>
          <a:p>
            <a:pPr algn="l">
              <a:lnSpc>
                <a:spcPct val="110000"/>
              </a:lnSpc>
              <a:spcAft>
                <a:spcPts val="600"/>
              </a:spcAft>
            </a:pPr>
            <a:r>
              <a:rPr sz="1650" b="1" i="0">
                <a:solidFill>
                  <a:srgbClr val="1A1A1A"/>
                </a:solidFill>
                <a:latin typeface="Arial"/>
              </a:rPr>
              <a:t>Agent runs it</a:t>
            </a:r>
          </a:p>
        </p:txBody>
      </p:sp>
      <p:sp>
        <p:nvSpPr>
          <p:cNvPr id="16" name="TextBox 15"/>
          <p:cNvSpPr txBox="1"/>
          <p:nvPr/>
        </p:nvSpPr>
        <p:spPr>
          <a:xfrm>
            <a:off x="6903720" y="4059936"/>
            <a:ext cx="4114800" cy="274320"/>
          </a:xfrm>
          <a:prstGeom prst="rect">
            <a:avLst/>
          </a:prstGeom>
          <a:noFill/>
        </p:spPr>
        <p:txBody>
          <a:bodyPr wrap="square" lIns="0" rIns="0" tIns="0" bIns="0" anchor="t">
            <a:spAutoFit/>
          </a:bodyPr>
          <a:lstStyle/>
          <a:p>
            <a:pPr algn="l">
              <a:lnSpc>
                <a:spcPct val="110000"/>
              </a:lnSpc>
              <a:spcAft>
                <a:spcPts val="600"/>
              </a:spcAft>
            </a:pPr>
            <a:r>
              <a:rPr sz="1300" b="0" i="0">
                <a:solidFill>
                  <a:srgbClr val="555555"/>
                </a:solidFill>
                <a:latin typeface="Arial"/>
              </a:rPr>
              <a:t>in its own workspace</a:t>
            </a:r>
          </a:p>
        </p:txBody>
      </p:sp>
      <p:cxnSp>
        <p:nvCxnSpPr>
          <p:cNvPr id="17" name="Connector 16"/>
          <p:cNvCxnSpPr/>
          <p:nvPr/>
        </p:nvCxnSpPr>
        <p:spPr>
          <a:xfrm>
            <a:off x="8915400" y="4370832"/>
            <a:ext cx="0" cy="146304"/>
          </a:xfrm>
          <a:prstGeom prst="line">
            <a:avLst/>
          </a:prstGeom>
          <a:ln w="25400">
            <a:solidFill>
              <a:srgbClr val="8A8A8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75120" y="4535424"/>
            <a:ext cx="4480560" cy="658368"/>
          </a:xfrm>
          <a:prstGeom prst="roundRect">
            <a:avLst>
              <a:gd name="adj" fmla="val 8000"/>
            </a:avLst>
          </a:prstGeom>
          <a:solidFill>
            <a:srgbClr val="F4F5F6"/>
          </a:solidFill>
          <a:ln>
            <a:noFill/>
          </a:ln>
          <a:effectLst/>
        </p:spPr>
        <p:txBody>
          <a:bodyPr rtlCol="0" anchor="ctr"/>
          <a:lstStyle/>
          <a:p/>
        </p:txBody>
      </p:sp>
      <p:sp>
        <p:nvSpPr>
          <p:cNvPr id="19" name="TextBox 18"/>
          <p:cNvSpPr txBox="1"/>
          <p:nvPr/>
        </p:nvSpPr>
        <p:spPr>
          <a:xfrm>
            <a:off x="6903720" y="4608576"/>
            <a:ext cx="4114800" cy="274320"/>
          </a:xfrm>
          <a:prstGeom prst="rect">
            <a:avLst/>
          </a:prstGeom>
          <a:noFill/>
        </p:spPr>
        <p:txBody>
          <a:bodyPr wrap="square" lIns="0" rIns="0" tIns="0" bIns="0" anchor="t">
            <a:spAutoFit/>
          </a:bodyPr>
          <a:lstStyle/>
          <a:p>
            <a:pPr algn="l">
              <a:lnSpc>
                <a:spcPct val="110000"/>
              </a:lnSpc>
              <a:spcAft>
                <a:spcPts val="600"/>
              </a:spcAft>
            </a:pPr>
            <a:r>
              <a:rPr sz="1650" b="1" i="0">
                <a:solidFill>
                  <a:srgbClr val="1A1A1A"/>
                </a:solidFill>
                <a:latin typeface="Arial"/>
              </a:rPr>
              <a:t>Answer</a:t>
            </a:r>
          </a:p>
        </p:txBody>
      </p:sp>
      <p:sp>
        <p:nvSpPr>
          <p:cNvPr id="20" name="TextBox 19"/>
          <p:cNvSpPr txBox="1"/>
          <p:nvPr/>
        </p:nvSpPr>
        <p:spPr>
          <a:xfrm>
            <a:off x="6903720" y="4901184"/>
            <a:ext cx="4114800" cy="274320"/>
          </a:xfrm>
          <a:prstGeom prst="rect">
            <a:avLst/>
          </a:prstGeom>
          <a:noFill/>
        </p:spPr>
        <p:txBody>
          <a:bodyPr wrap="square" lIns="0" rIns="0" tIns="0" bIns="0" anchor="t">
            <a:spAutoFit/>
          </a:bodyPr>
          <a:lstStyle/>
          <a:p>
            <a:pPr algn="l">
              <a:lnSpc>
                <a:spcPct val="110000"/>
              </a:lnSpc>
              <a:spcAft>
                <a:spcPts val="600"/>
              </a:spcAft>
            </a:pPr>
            <a:r>
              <a:rPr sz="1300" b="0" i="0">
                <a:solidFill>
                  <a:srgbClr val="555555"/>
                </a:solidFill>
                <a:latin typeface="Arial"/>
              </a:rPr>
              <a:t>scored against the benchmark</a:t>
            </a:r>
          </a:p>
        </p:txBody>
      </p:sp>
      <p:sp>
        <p:nvSpPr>
          <p:cNvPr id="21" name="Rounded Rectangle 20"/>
          <p:cNvSpPr/>
          <p:nvPr/>
        </p:nvSpPr>
        <p:spPr>
          <a:xfrm>
            <a:off x="548640" y="5486400"/>
            <a:ext cx="11064240" cy="713232"/>
          </a:xfrm>
          <a:prstGeom prst="roundRect">
            <a:avLst>
              <a:gd name="adj" fmla="val 8000"/>
            </a:avLst>
          </a:prstGeom>
          <a:solidFill>
            <a:srgbClr val="F4F5F6"/>
          </a:solidFill>
          <a:ln>
            <a:noFill/>
          </a:ln>
          <a:effectLst/>
        </p:spPr>
        <p:txBody>
          <a:bodyPr rtlCol="0" anchor="ctr"/>
          <a:lstStyle/>
          <a:p/>
        </p:txBody>
      </p:sp>
      <p:sp>
        <p:nvSpPr>
          <p:cNvPr id="22" name="TextBox 21"/>
          <p:cNvSpPr txBox="1"/>
          <p:nvPr/>
        </p:nvSpPr>
        <p:spPr>
          <a:xfrm>
            <a:off x="777240" y="5577840"/>
            <a:ext cx="10607040" cy="548640"/>
          </a:xfrm>
          <a:prstGeom prst="rect">
            <a:avLst/>
          </a:prstGeom>
          <a:noFill/>
        </p:spPr>
        <p:txBody>
          <a:bodyPr wrap="square" lIns="0" rIns="0" tIns="0" bIns="0" anchor="ctr">
            <a:spAutoFit/>
          </a:bodyPr>
          <a:lstStyle/>
          <a:p>
            <a:pPr algn="l">
              <a:lnSpc>
                <a:spcPct val="110000"/>
              </a:lnSpc>
              <a:spcAft>
                <a:spcPts val="600"/>
              </a:spcAft>
            </a:pPr>
            <a:r>
              <a:rPr sz="1700" b="1" i="0">
                <a:solidFill>
                  <a:srgbClr val="1A1A1A"/>
                </a:solidFill>
                <a:latin typeface="Arial"/>
              </a:rPr>
              <a:t>The gap: </a:t>
            </a:r>
            <a:r>
              <a:rPr sz="1700" b="0" i="0">
                <a:solidFill>
                  <a:srgbClr val="1A1A1A"/>
                </a:solidFill>
                <a:latin typeface="Arial"/>
              </a:rPr>
              <a:t>whether agents can work through a scientific workbench, instead of writing their own code, has not been tested.</a:t>
            </a:r>
          </a:p>
        </p:txBody>
      </p:sp>
      <p:sp>
        <p:nvSpPr>
          <p:cNvPr id="23" name="TextBox 22"/>
          <p:cNvSpPr txBox="1"/>
          <p:nvPr/>
        </p:nvSpPr>
        <p:spPr>
          <a:xfrm>
            <a:off x="548640" y="6428232"/>
            <a:ext cx="10241280" cy="320040"/>
          </a:xfrm>
          <a:prstGeom prst="rect">
            <a:avLst/>
          </a:prstGeom>
          <a:noFill/>
        </p:spPr>
        <p:txBody>
          <a:bodyPr wrap="square" lIns="0" rIns="0" tIns="0" bIns="0" anchor="t">
            <a:spAutoFit/>
          </a:bodyPr>
          <a:lstStyle/>
          <a:p>
            <a:pPr algn="l">
              <a:lnSpc>
                <a:spcPct val="100000"/>
              </a:lnSpc>
              <a:spcAft>
                <a:spcPts val="600"/>
              </a:spcAft>
            </a:pPr>
            <a:r>
              <a:rPr sz="1000" b="0" i="0">
                <a:solidFill>
                  <a:srgbClr val="555555"/>
                </a:solidFill>
                <a:latin typeface="Arial"/>
              </a:rPr>
              <a:t>Outline P1 and abstract.</a:t>
            </a:r>
          </a:p>
        </p:txBody>
      </p:sp>
      <p:sp>
        <p:nvSpPr>
          <p:cNvPr id="24" name="TextBox 23"/>
          <p:cNvSpPr txBox="1"/>
          <p:nvPr/>
        </p:nvSpPr>
        <p:spPr>
          <a:xfrm>
            <a:off x="11064240" y="6428232"/>
            <a:ext cx="594360" cy="274320"/>
          </a:xfrm>
          <a:prstGeom prst="rect">
            <a:avLst/>
          </a:prstGeom>
          <a:noFill/>
        </p:spPr>
        <p:txBody>
          <a:bodyPr wrap="square" lIns="0" rIns="0" tIns="0" bIns="0" anchor="t">
            <a:spAutoFit/>
          </a:bodyPr>
          <a:lstStyle/>
          <a:p>
            <a:pPr algn="r">
              <a:lnSpc>
                <a:spcPct val="110000"/>
              </a:lnSpc>
              <a:spcAft>
                <a:spcPts val="600"/>
              </a:spcAft>
            </a:pPr>
            <a:r>
              <a:rPr sz="1000" b="0" i="0">
                <a:solidFill>
                  <a:srgbClr val="555555"/>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84048"/>
            <a:ext cx="73152" cy="274320"/>
          </a:xfrm>
          <a:prstGeom prst="rect">
            <a:avLst/>
          </a:prstGeom>
          <a:solidFill>
            <a:srgbClr val="0072B2"/>
          </a:solidFill>
          <a:ln>
            <a:noFill/>
          </a:ln>
          <a:effectLst/>
        </p:spPr>
        <p:txBody>
          <a:bodyPr rtlCol="0" anchor="ctr"/>
          <a:lstStyle/>
          <a:p/>
        </p:txBody>
      </p:sp>
      <p:sp>
        <p:nvSpPr>
          <p:cNvPr id="3" name="TextBox 2"/>
          <p:cNvSpPr txBox="1"/>
          <p:nvPr/>
        </p:nvSpPr>
        <p:spPr>
          <a:xfrm>
            <a:off x="731520" y="365760"/>
            <a:ext cx="10515600" cy="320040"/>
          </a:xfrm>
          <a:prstGeom prst="rect">
            <a:avLst/>
          </a:prstGeom>
          <a:noFill/>
        </p:spPr>
        <p:txBody>
          <a:bodyPr wrap="square" lIns="0" rIns="0" tIns="0" bIns="0" anchor="t">
            <a:spAutoFit/>
          </a:bodyPr>
          <a:lstStyle/>
          <a:p>
            <a:pPr algn="l">
              <a:lnSpc>
                <a:spcPct val="110000"/>
              </a:lnSpc>
              <a:spcAft>
                <a:spcPts val="600"/>
              </a:spcAft>
            </a:pPr>
            <a:r>
              <a:rPr sz="1250" b="1" i="0">
                <a:solidFill>
                  <a:srgbClr val="555555"/>
                </a:solidFill>
                <a:latin typeface="Arial"/>
              </a:rPr>
              <a:t>INTRODUCTION · GALAXY</a:t>
            </a:r>
          </a:p>
        </p:txBody>
      </p:sp>
      <p:sp>
        <p:nvSpPr>
          <p:cNvPr id="4" name="TextBox 3"/>
          <p:cNvSpPr txBox="1"/>
          <p:nvPr/>
        </p:nvSpPr>
        <p:spPr>
          <a:xfrm>
            <a:off x="548640" y="749808"/>
            <a:ext cx="11064240" cy="1051560"/>
          </a:xfrm>
          <a:prstGeom prst="rect">
            <a:avLst/>
          </a:prstGeom>
          <a:noFill/>
        </p:spPr>
        <p:txBody>
          <a:bodyPr wrap="square" lIns="0" rIns="0" tIns="0" bIns="0" anchor="t">
            <a:spAutoFit/>
          </a:bodyPr>
          <a:lstStyle/>
          <a:p>
            <a:pPr algn="l">
              <a:lnSpc>
                <a:spcPct val="100000"/>
              </a:lnSpc>
              <a:spcAft>
                <a:spcPts val="600"/>
              </a:spcAft>
            </a:pPr>
            <a:r>
              <a:rPr sz="2700" b="1" i="0">
                <a:solidFill>
                  <a:srgbClr val="1A1A1A"/>
                </a:solidFill>
                <a:latin typeface="Arial"/>
              </a:rPr>
              <a:t>Galaxy is a widely used scientific workbench, and a Model Context Protocol server opens it to agents</a:t>
            </a:r>
          </a:p>
        </p:txBody>
      </p:sp>
      <p:sp>
        <p:nvSpPr>
          <p:cNvPr id="5" name="TextBox 4"/>
          <p:cNvSpPr txBox="1"/>
          <p:nvPr/>
        </p:nvSpPr>
        <p:spPr>
          <a:xfrm>
            <a:off x="548640" y="2011680"/>
            <a:ext cx="5303520" cy="365760"/>
          </a:xfrm>
          <a:prstGeom prst="rect">
            <a:avLst/>
          </a:prstGeom>
          <a:noFill/>
        </p:spPr>
        <p:txBody>
          <a:bodyPr wrap="square" lIns="0" rIns="0" tIns="0" bIns="0" anchor="t">
            <a:spAutoFit/>
          </a:bodyPr>
          <a:lstStyle/>
          <a:p>
            <a:pPr algn="l">
              <a:lnSpc>
                <a:spcPct val="110000"/>
              </a:lnSpc>
              <a:spcAft>
                <a:spcPts val="600"/>
              </a:spcAft>
            </a:pPr>
            <a:r>
              <a:rPr sz="1800" b="1" i="0">
                <a:solidFill>
                  <a:srgbClr val="0072B2"/>
                </a:solidFill>
                <a:latin typeface="Arial"/>
              </a:rPr>
              <a:t>For people</a:t>
            </a:r>
          </a:p>
        </p:txBody>
      </p:sp>
      <p:sp>
        <p:nvSpPr>
          <p:cNvPr id="6" name="Rounded Rectangle 5"/>
          <p:cNvSpPr/>
          <p:nvPr/>
        </p:nvSpPr>
        <p:spPr>
          <a:xfrm>
            <a:off x="548640" y="2487168"/>
            <a:ext cx="5303520" cy="731520"/>
          </a:xfrm>
          <a:prstGeom prst="roundRect">
            <a:avLst>
              <a:gd name="adj" fmla="val 8000"/>
            </a:avLst>
          </a:prstGeom>
          <a:solidFill>
            <a:srgbClr val="E5F1F8"/>
          </a:solidFill>
          <a:ln>
            <a:noFill/>
          </a:ln>
          <a:effectLst/>
        </p:spPr>
        <p:txBody>
          <a:bodyPr rtlCol="0" anchor="ctr"/>
          <a:lstStyle/>
          <a:p/>
        </p:txBody>
      </p:sp>
      <p:sp>
        <p:nvSpPr>
          <p:cNvPr id="7" name="TextBox 6"/>
          <p:cNvSpPr txBox="1"/>
          <p:nvPr/>
        </p:nvSpPr>
        <p:spPr>
          <a:xfrm>
            <a:off x="777240" y="2578608"/>
            <a:ext cx="4937760" cy="274320"/>
          </a:xfrm>
          <a:prstGeom prst="rect">
            <a:avLst/>
          </a:prstGeom>
          <a:noFill/>
        </p:spPr>
        <p:txBody>
          <a:bodyPr wrap="square" lIns="0" rIns="0" tIns="0" bIns="0" anchor="t">
            <a:spAutoFit/>
          </a:bodyPr>
          <a:lstStyle/>
          <a:p>
            <a:pPr algn="l">
              <a:lnSpc>
                <a:spcPct val="110000"/>
              </a:lnSpc>
              <a:spcAft>
                <a:spcPts val="600"/>
              </a:spcAft>
            </a:pPr>
            <a:r>
              <a:rPr sz="1600" b="1" i="0">
                <a:solidFill>
                  <a:srgbClr val="1A1A1A"/>
                </a:solidFill>
                <a:latin typeface="Arial"/>
              </a:rPr>
              <a:t>Versioned tools</a:t>
            </a:r>
          </a:p>
        </p:txBody>
      </p:sp>
      <p:sp>
        <p:nvSpPr>
          <p:cNvPr id="8" name="TextBox 7"/>
          <p:cNvSpPr txBox="1"/>
          <p:nvPr/>
        </p:nvSpPr>
        <p:spPr>
          <a:xfrm>
            <a:off x="777240" y="2889504"/>
            <a:ext cx="4937760" cy="274320"/>
          </a:xfrm>
          <a:prstGeom prst="rect">
            <a:avLst/>
          </a:prstGeom>
          <a:noFill/>
        </p:spPr>
        <p:txBody>
          <a:bodyPr wrap="square" lIns="0" rIns="0" tIns="0" bIns="0" anchor="t">
            <a:spAutoFit/>
          </a:bodyPr>
          <a:lstStyle/>
          <a:p>
            <a:pPr algn="l">
              <a:lnSpc>
                <a:spcPct val="110000"/>
              </a:lnSpc>
              <a:spcAft>
                <a:spcPts val="600"/>
              </a:spcAft>
            </a:pPr>
            <a:r>
              <a:rPr sz="1300" b="0" i="0">
                <a:solidFill>
                  <a:srgbClr val="555555"/>
                </a:solidFill>
                <a:latin typeface="Arial"/>
              </a:rPr>
              <a:t>every tool and version is defined</a:t>
            </a:r>
          </a:p>
        </p:txBody>
      </p:sp>
      <p:sp>
        <p:nvSpPr>
          <p:cNvPr id="9" name="Rounded Rectangle 8"/>
          <p:cNvSpPr/>
          <p:nvPr/>
        </p:nvSpPr>
        <p:spPr>
          <a:xfrm>
            <a:off x="548640" y="3355848"/>
            <a:ext cx="5303520" cy="731520"/>
          </a:xfrm>
          <a:prstGeom prst="roundRect">
            <a:avLst>
              <a:gd name="adj" fmla="val 8000"/>
            </a:avLst>
          </a:prstGeom>
          <a:solidFill>
            <a:srgbClr val="E5F1F8"/>
          </a:solidFill>
          <a:ln>
            <a:noFill/>
          </a:ln>
          <a:effectLst/>
        </p:spPr>
        <p:txBody>
          <a:bodyPr rtlCol="0" anchor="ctr"/>
          <a:lstStyle/>
          <a:p/>
        </p:txBody>
      </p:sp>
      <p:sp>
        <p:nvSpPr>
          <p:cNvPr id="10" name="TextBox 9"/>
          <p:cNvSpPr txBox="1"/>
          <p:nvPr/>
        </p:nvSpPr>
        <p:spPr>
          <a:xfrm>
            <a:off x="777240" y="3447288"/>
            <a:ext cx="4937760" cy="274320"/>
          </a:xfrm>
          <a:prstGeom prst="rect">
            <a:avLst/>
          </a:prstGeom>
          <a:noFill/>
        </p:spPr>
        <p:txBody>
          <a:bodyPr wrap="square" lIns="0" rIns="0" tIns="0" bIns="0" anchor="t">
            <a:spAutoFit/>
          </a:bodyPr>
          <a:lstStyle/>
          <a:p>
            <a:pPr algn="l">
              <a:lnSpc>
                <a:spcPct val="110000"/>
              </a:lnSpc>
              <a:spcAft>
                <a:spcPts val="600"/>
              </a:spcAft>
            </a:pPr>
            <a:r>
              <a:rPr sz="1600" b="1" i="0">
                <a:solidFill>
                  <a:srgbClr val="1A1A1A"/>
                </a:solidFill>
                <a:latin typeface="Arial"/>
              </a:rPr>
              <a:t>Managed compute</a:t>
            </a:r>
          </a:p>
        </p:txBody>
      </p:sp>
      <p:sp>
        <p:nvSpPr>
          <p:cNvPr id="11" name="TextBox 10"/>
          <p:cNvSpPr txBox="1"/>
          <p:nvPr/>
        </p:nvSpPr>
        <p:spPr>
          <a:xfrm>
            <a:off x="777240" y="3758184"/>
            <a:ext cx="4937760" cy="274320"/>
          </a:xfrm>
          <a:prstGeom prst="rect">
            <a:avLst/>
          </a:prstGeom>
          <a:noFill/>
        </p:spPr>
        <p:txBody>
          <a:bodyPr wrap="square" lIns="0" rIns="0" tIns="0" bIns="0" anchor="t">
            <a:spAutoFit/>
          </a:bodyPr>
          <a:lstStyle/>
          <a:p>
            <a:pPr algn="l">
              <a:lnSpc>
                <a:spcPct val="110000"/>
              </a:lnSpc>
              <a:spcAft>
                <a:spcPts val="600"/>
              </a:spcAft>
            </a:pPr>
            <a:r>
              <a:rPr sz="1300" b="0" i="0">
                <a:solidFill>
                  <a:srgbClr val="555555"/>
                </a:solidFill>
                <a:latin typeface="Arial"/>
              </a:rPr>
              <a:t>jobs run on the server, not on a laptop</a:t>
            </a:r>
          </a:p>
        </p:txBody>
      </p:sp>
      <p:sp>
        <p:nvSpPr>
          <p:cNvPr id="12" name="Rounded Rectangle 11"/>
          <p:cNvSpPr/>
          <p:nvPr/>
        </p:nvSpPr>
        <p:spPr>
          <a:xfrm>
            <a:off x="548640" y="4224528"/>
            <a:ext cx="5303520" cy="731520"/>
          </a:xfrm>
          <a:prstGeom prst="roundRect">
            <a:avLst>
              <a:gd name="adj" fmla="val 8000"/>
            </a:avLst>
          </a:prstGeom>
          <a:solidFill>
            <a:srgbClr val="E5F1F8"/>
          </a:solidFill>
          <a:ln>
            <a:noFill/>
          </a:ln>
          <a:effectLst/>
        </p:spPr>
        <p:txBody>
          <a:bodyPr rtlCol="0" anchor="ctr"/>
          <a:lstStyle/>
          <a:p/>
        </p:txBody>
      </p:sp>
      <p:sp>
        <p:nvSpPr>
          <p:cNvPr id="13" name="TextBox 12"/>
          <p:cNvSpPr txBox="1"/>
          <p:nvPr/>
        </p:nvSpPr>
        <p:spPr>
          <a:xfrm>
            <a:off x="777240" y="4315968"/>
            <a:ext cx="4937760" cy="274320"/>
          </a:xfrm>
          <a:prstGeom prst="rect">
            <a:avLst/>
          </a:prstGeom>
          <a:noFill/>
        </p:spPr>
        <p:txBody>
          <a:bodyPr wrap="square" lIns="0" rIns="0" tIns="0" bIns="0" anchor="t">
            <a:spAutoFit/>
          </a:bodyPr>
          <a:lstStyle/>
          <a:p>
            <a:pPr algn="l">
              <a:lnSpc>
                <a:spcPct val="110000"/>
              </a:lnSpc>
              <a:spcAft>
                <a:spcPts val="600"/>
              </a:spcAft>
            </a:pPr>
            <a:r>
              <a:rPr sz="1600" b="1" i="0">
                <a:solidFill>
                  <a:srgbClr val="1A1A1A"/>
                </a:solidFill>
                <a:latin typeface="Arial"/>
              </a:rPr>
              <a:t>Histories</a:t>
            </a:r>
          </a:p>
        </p:txBody>
      </p:sp>
      <p:sp>
        <p:nvSpPr>
          <p:cNvPr id="14" name="TextBox 13"/>
          <p:cNvSpPr txBox="1"/>
          <p:nvPr/>
        </p:nvSpPr>
        <p:spPr>
          <a:xfrm>
            <a:off x="777240" y="4626864"/>
            <a:ext cx="4937760" cy="274320"/>
          </a:xfrm>
          <a:prstGeom prst="rect">
            <a:avLst/>
          </a:prstGeom>
          <a:noFill/>
        </p:spPr>
        <p:txBody>
          <a:bodyPr wrap="square" lIns="0" rIns="0" tIns="0" bIns="0" anchor="t">
            <a:spAutoFit/>
          </a:bodyPr>
          <a:lstStyle/>
          <a:p>
            <a:pPr algn="l">
              <a:lnSpc>
                <a:spcPct val="110000"/>
              </a:lnSpc>
              <a:spcAft>
                <a:spcPts val="600"/>
              </a:spcAft>
            </a:pPr>
            <a:r>
              <a:rPr sz="1300" b="0" i="0">
                <a:solidFill>
                  <a:srgbClr val="555555"/>
                </a:solidFill>
                <a:latin typeface="Arial"/>
              </a:rPr>
              <a:t>record parameters, inputs and outputs</a:t>
            </a:r>
          </a:p>
        </p:txBody>
      </p:sp>
      <p:sp>
        <p:nvSpPr>
          <p:cNvPr id="15" name="Rounded Rectangle 14"/>
          <p:cNvSpPr/>
          <p:nvPr/>
        </p:nvSpPr>
        <p:spPr>
          <a:xfrm>
            <a:off x="548640" y="5093208"/>
            <a:ext cx="5303520" cy="731520"/>
          </a:xfrm>
          <a:prstGeom prst="roundRect">
            <a:avLst>
              <a:gd name="adj" fmla="val 8000"/>
            </a:avLst>
          </a:prstGeom>
          <a:solidFill>
            <a:srgbClr val="E5F1F8"/>
          </a:solidFill>
          <a:ln>
            <a:noFill/>
          </a:ln>
          <a:effectLst/>
        </p:spPr>
        <p:txBody>
          <a:bodyPr rtlCol="0" anchor="ctr"/>
          <a:lstStyle/>
          <a:p/>
        </p:txBody>
      </p:sp>
      <p:sp>
        <p:nvSpPr>
          <p:cNvPr id="16" name="TextBox 15"/>
          <p:cNvSpPr txBox="1"/>
          <p:nvPr/>
        </p:nvSpPr>
        <p:spPr>
          <a:xfrm>
            <a:off x="777240" y="5184648"/>
            <a:ext cx="4937760" cy="274320"/>
          </a:xfrm>
          <a:prstGeom prst="rect">
            <a:avLst/>
          </a:prstGeom>
          <a:noFill/>
        </p:spPr>
        <p:txBody>
          <a:bodyPr wrap="square" lIns="0" rIns="0" tIns="0" bIns="0" anchor="t">
            <a:spAutoFit/>
          </a:bodyPr>
          <a:lstStyle/>
          <a:p>
            <a:pPr algn="l">
              <a:lnSpc>
                <a:spcPct val="110000"/>
              </a:lnSpc>
              <a:spcAft>
                <a:spcPts val="600"/>
              </a:spcAft>
            </a:pPr>
            <a:r>
              <a:rPr sz="1600" b="1" i="0">
                <a:solidFill>
                  <a:srgbClr val="1A1A1A"/>
                </a:solidFill>
                <a:latin typeface="Arial"/>
              </a:rPr>
              <a:t>Shared, turned into workflows, rerun</a:t>
            </a:r>
          </a:p>
        </p:txBody>
      </p:sp>
      <p:sp>
        <p:nvSpPr>
          <p:cNvPr id="17" name="TextBox 16"/>
          <p:cNvSpPr txBox="1"/>
          <p:nvPr/>
        </p:nvSpPr>
        <p:spPr>
          <a:xfrm>
            <a:off x="777240" y="5495544"/>
            <a:ext cx="4937760" cy="274320"/>
          </a:xfrm>
          <a:prstGeom prst="rect">
            <a:avLst/>
          </a:prstGeom>
          <a:noFill/>
        </p:spPr>
        <p:txBody>
          <a:bodyPr wrap="square" lIns="0" rIns="0" tIns="0" bIns="0" anchor="t">
            <a:spAutoFit/>
          </a:bodyPr>
          <a:lstStyle/>
          <a:p>
            <a:pPr algn="l">
              <a:lnSpc>
                <a:spcPct val="110000"/>
              </a:lnSpc>
              <a:spcAft>
                <a:spcPts val="600"/>
              </a:spcAft>
            </a:pPr>
            <a:r>
              <a:rPr sz="1300" b="0" i="0">
                <a:solidFill>
                  <a:srgbClr val="555555"/>
                </a:solidFill>
                <a:latin typeface="Arial"/>
              </a:rPr>
              <a:t>a history is a reusable analysis</a:t>
            </a:r>
          </a:p>
        </p:txBody>
      </p:sp>
      <p:sp>
        <p:nvSpPr>
          <p:cNvPr id="18" name="TextBox 17"/>
          <p:cNvSpPr txBox="1"/>
          <p:nvPr/>
        </p:nvSpPr>
        <p:spPr>
          <a:xfrm>
            <a:off x="6446520" y="2011680"/>
            <a:ext cx="5212080" cy="365760"/>
          </a:xfrm>
          <a:prstGeom prst="rect">
            <a:avLst/>
          </a:prstGeom>
          <a:noFill/>
        </p:spPr>
        <p:txBody>
          <a:bodyPr wrap="square" lIns="0" rIns="0" tIns="0" bIns="0" anchor="t">
            <a:spAutoFit/>
          </a:bodyPr>
          <a:lstStyle/>
          <a:p>
            <a:pPr algn="l">
              <a:lnSpc>
                <a:spcPct val="110000"/>
              </a:lnSpc>
              <a:spcAft>
                <a:spcPts val="600"/>
              </a:spcAft>
            </a:pPr>
            <a:r>
              <a:rPr sz="1800" b="1" i="0">
                <a:solidFill>
                  <a:srgbClr val="0072B2"/>
                </a:solidFill>
                <a:latin typeface="Arial"/>
              </a:rPr>
              <a:t>For agents: the Galaxy MCP server</a:t>
            </a:r>
          </a:p>
        </p:txBody>
      </p:sp>
      <p:sp>
        <p:nvSpPr>
          <p:cNvPr id="19" name="Rounded Rectangle 18"/>
          <p:cNvSpPr/>
          <p:nvPr/>
        </p:nvSpPr>
        <p:spPr>
          <a:xfrm>
            <a:off x="6446520" y="2487168"/>
            <a:ext cx="5212080" cy="3337560"/>
          </a:xfrm>
          <a:prstGeom prst="roundRect">
            <a:avLst>
              <a:gd name="adj" fmla="val 8000"/>
            </a:avLst>
          </a:prstGeom>
          <a:solidFill>
            <a:srgbClr val="FFFFFF"/>
          </a:solidFill>
          <a:ln w="19050">
            <a:solidFill>
              <a:srgbClr val="0072B2"/>
            </a:solidFill>
          </a:ln>
          <a:effectLst/>
        </p:spPr>
        <p:txBody>
          <a:bodyPr rtlCol="0" anchor="ctr"/>
          <a:lstStyle/>
          <a:p/>
        </p:txBody>
      </p:sp>
      <p:sp>
        <p:nvSpPr>
          <p:cNvPr id="20" name="TextBox 19"/>
          <p:cNvSpPr txBox="1"/>
          <p:nvPr/>
        </p:nvSpPr>
        <p:spPr>
          <a:xfrm>
            <a:off x="6720840" y="2697480"/>
            <a:ext cx="4754880" cy="3017520"/>
          </a:xfrm>
          <a:prstGeom prst="rect">
            <a:avLst/>
          </a:prstGeom>
          <a:noFill/>
        </p:spPr>
        <p:txBody>
          <a:bodyPr wrap="square" lIns="0" rIns="0" tIns="0" bIns="0" anchor="t">
            <a:spAutoFit/>
          </a:bodyPr>
          <a:lstStyle/>
          <a:p>
            <a:pPr algn="l" marL="219456" indent="-219456">
              <a:lnSpc>
                <a:spcPct val="110000"/>
              </a:lnSpc>
              <a:spcAft>
                <a:spcPts val="1300"/>
              </a:spcAft>
            </a:pPr>
            <a:r>
              <a:rPr sz="1650" b="1" i="0">
                <a:solidFill>
                  <a:srgbClr val="0072B2"/>
                </a:solidFill>
                <a:latin typeface="Arial"/>
              </a:rPr>
              <a:t>▸  </a:t>
            </a:r>
            <a:r>
              <a:rPr sz="1650" b="0" i="0">
                <a:solidFill>
                  <a:srgbClr val="1A1A1A"/>
                </a:solidFill>
                <a:latin typeface="Arial"/>
              </a:rPr>
              <a:t>Tool search</a:t>
            </a:r>
          </a:p>
          <a:p>
            <a:pPr algn="l" marL="219456" indent="-219456">
              <a:lnSpc>
                <a:spcPct val="110000"/>
              </a:lnSpc>
              <a:spcAft>
                <a:spcPts val="1300"/>
              </a:spcAft>
            </a:pPr>
            <a:r>
              <a:rPr sz="1650" b="1" i="0">
                <a:solidFill>
                  <a:srgbClr val="0072B2"/>
                </a:solidFill>
                <a:latin typeface="Arial"/>
              </a:rPr>
              <a:t>▸  </a:t>
            </a:r>
            <a:r>
              <a:rPr sz="1650" b="0" i="0">
                <a:solidFill>
                  <a:srgbClr val="1A1A1A"/>
                </a:solidFill>
                <a:latin typeface="Arial"/>
              </a:rPr>
              <a:t>Parameter descriptions</a:t>
            </a:r>
          </a:p>
          <a:p>
            <a:pPr algn="l" marL="219456" indent="-219456">
              <a:lnSpc>
                <a:spcPct val="110000"/>
              </a:lnSpc>
              <a:spcAft>
                <a:spcPts val="1300"/>
              </a:spcAft>
            </a:pPr>
            <a:r>
              <a:rPr sz="1650" b="1" i="0">
                <a:solidFill>
                  <a:srgbClr val="0072B2"/>
                </a:solidFill>
                <a:latin typeface="Arial"/>
              </a:rPr>
              <a:t>▸  </a:t>
            </a:r>
            <a:r>
              <a:rPr sz="1650" b="0" i="0">
                <a:solidFill>
                  <a:srgbClr val="1A1A1A"/>
                </a:solidFill>
                <a:latin typeface="Arial"/>
              </a:rPr>
              <a:t>History inspection</a:t>
            </a:r>
          </a:p>
          <a:p>
            <a:pPr algn="l" marL="219456" indent="-219456">
              <a:lnSpc>
                <a:spcPct val="110000"/>
              </a:lnSpc>
              <a:spcAft>
                <a:spcPts val="1300"/>
              </a:spcAft>
            </a:pPr>
            <a:r>
              <a:rPr sz="1650" b="1" i="0">
                <a:solidFill>
                  <a:srgbClr val="0072B2"/>
                </a:solidFill>
                <a:latin typeface="Arial"/>
              </a:rPr>
              <a:t>▸  </a:t>
            </a:r>
            <a:r>
              <a:rPr sz="1650" b="0" i="0">
                <a:solidFill>
                  <a:srgbClr val="1A1A1A"/>
                </a:solidFill>
                <a:latin typeface="Arial"/>
              </a:rPr>
              <a:t>Job submission and monitoring</a:t>
            </a:r>
          </a:p>
          <a:p>
            <a:pPr algn="l" marL="219456" indent="-219456">
              <a:lnSpc>
                <a:spcPct val="110000"/>
              </a:lnSpc>
              <a:spcAft>
                <a:spcPts val="1300"/>
              </a:spcAft>
            </a:pPr>
            <a:r>
              <a:rPr sz="1650" b="1" i="0">
                <a:solidFill>
                  <a:srgbClr val="0072B2"/>
                </a:solidFill>
                <a:latin typeface="Arial"/>
              </a:rPr>
              <a:t>▸  </a:t>
            </a:r>
            <a:r>
              <a:rPr sz="1650" b="0" i="0">
                <a:solidFill>
                  <a:srgbClr val="1A1A1A"/>
                </a:solidFill>
                <a:latin typeface="Arial"/>
              </a:rPr>
              <a:t>User-defined tools (UDTs) for operations no installed tool covers</a:t>
            </a:r>
          </a:p>
        </p:txBody>
      </p:sp>
      <p:cxnSp>
        <p:nvCxnSpPr>
          <p:cNvPr id="21" name="Connector 20"/>
          <p:cNvCxnSpPr/>
          <p:nvPr/>
        </p:nvCxnSpPr>
        <p:spPr>
          <a:xfrm>
            <a:off x="5989320" y="4114800"/>
            <a:ext cx="365760" cy="0"/>
          </a:xfrm>
          <a:prstGeom prst="line">
            <a:avLst/>
          </a:prstGeom>
          <a:ln w="25400">
            <a:solidFill>
              <a:srgbClr val="0072B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48640" y="6428232"/>
            <a:ext cx="10241280" cy="320040"/>
          </a:xfrm>
          <a:prstGeom prst="rect">
            <a:avLst/>
          </a:prstGeom>
          <a:noFill/>
        </p:spPr>
        <p:txBody>
          <a:bodyPr wrap="square" lIns="0" rIns="0" tIns="0" bIns="0" anchor="t">
            <a:spAutoFit/>
          </a:bodyPr>
          <a:lstStyle/>
          <a:p>
            <a:pPr algn="l">
              <a:lnSpc>
                <a:spcPct val="100000"/>
              </a:lnSpc>
              <a:spcAft>
                <a:spcPts val="600"/>
              </a:spcAft>
            </a:pPr>
            <a:r>
              <a:rPr sz="1000" b="0" i="0">
                <a:solidFill>
                  <a:srgbClr val="555555"/>
                </a:solidFill>
                <a:latin typeface="Arial"/>
              </a:rPr>
              <a:t>Outline P1 and P2. MCP, Model Context Protocol; analyses run on usegalaxy.org.</a:t>
            </a:r>
          </a:p>
        </p:txBody>
      </p:sp>
      <p:sp>
        <p:nvSpPr>
          <p:cNvPr id="23" name="TextBox 22"/>
          <p:cNvSpPr txBox="1"/>
          <p:nvPr/>
        </p:nvSpPr>
        <p:spPr>
          <a:xfrm>
            <a:off x="11064240" y="6428232"/>
            <a:ext cx="594360" cy="274320"/>
          </a:xfrm>
          <a:prstGeom prst="rect">
            <a:avLst/>
          </a:prstGeom>
          <a:noFill/>
        </p:spPr>
        <p:txBody>
          <a:bodyPr wrap="square" lIns="0" rIns="0" tIns="0" bIns="0" anchor="t">
            <a:spAutoFit/>
          </a:bodyPr>
          <a:lstStyle/>
          <a:p>
            <a:pPr algn="r">
              <a:lnSpc>
                <a:spcPct val="110000"/>
              </a:lnSpc>
              <a:spcAft>
                <a:spcPts val="600"/>
              </a:spcAft>
            </a:pPr>
            <a:r>
              <a:rPr sz="1000" b="0" i="0">
                <a:solidFill>
                  <a:srgbClr val="555555"/>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84048"/>
            <a:ext cx="73152" cy="274320"/>
          </a:xfrm>
          <a:prstGeom prst="rect">
            <a:avLst/>
          </a:prstGeom>
          <a:solidFill>
            <a:srgbClr val="0072B2"/>
          </a:solidFill>
          <a:ln>
            <a:noFill/>
          </a:ln>
          <a:effectLst/>
        </p:spPr>
        <p:txBody>
          <a:bodyPr rtlCol="0" anchor="ctr"/>
          <a:lstStyle/>
          <a:p/>
        </p:txBody>
      </p:sp>
      <p:sp>
        <p:nvSpPr>
          <p:cNvPr id="3" name="TextBox 2"/>
          <p:cNvSpPr txBox="1"/>
          <p:nvPr/>
        </p:nvSpPr>
        <p:spPr>
          <a:xfrm>
            <a:off x="731520" y="365760"/>
            <a:ext cx="10515600" cy="320040"/>
          </a:xfrm>
          <a:prstGeom prst="rect">
            <a:avLst/>
          </a:prstGeom>
          <a:noFill/>
        </p:spPr>
        <p:txBody>
          <a:bodyPr wrap="square" lIns="0" rIns="0" tIns="0" bIns="0" anchor="t">
            <a:spAutoFit/>
          </a:bodyPr>
          <a:lstStyle/>
          <a:p>
            <a:pPr algn="l">
              <a:lnSpc>
                <a:spcPct val="110000"/>
              </a:lnSpc>
              <a:spcAft>
                <a:spcPts val="600"/>
              </a:spcAft>
            </a:pPr>
            <a:r>
              <a:rPr sz="1250" b="1" i="0">
                <a:solidFill>
                  <a:srgbClr val="555555"/>
                </a:solidFill>
                <a:latin typeface="Arial"/>
              </a:rPr>
              <a:t>HYPOTHESIS</a:t>
            </a:r>
          </a:p>
        </p:txBody>
      </p:sp>
      <p:sp>
        <p:nvSpPr>
          <p:cNvPr id="4" name="TextBox 3"/>
          <p:cNvSpPr txBox="1"/>
          <p:nvPr/>
        </p:nvSpPr>
        <p:spPr>
          <a:xfrm>
            <a:off x="548640" y="749808"/>
            <a:ext cx="11064240" cy="1051560"/>
          </a:xfrm>
          <a:prstGeom prst="rect">
            <a:avLst/>
          </a:prstGeom>
          <a:noFill/>
        </p:spPr>
        <p:txBody>
          <a:bodyPr wrap="square" lIns="0" rIns="0" tIns="0" bIns="0" anchor="t">
            <a:spAutoFit/>
          </a:bodyPr>
          <a:lstStyle/>
          <a:p>
            <a:pPr algn="l">
              <a:lnSpc>
                <a:spcPct val="100000"/>
              </a:lnSpc>
              <a:spcAft>
                <a:spcPts val="600"/>
              </a:spcAft>
            </a:pPr>
            <a:r>
              <a:rPr sz="2700" b="1" i="0">
                <a:solidFill>
                  <a:srgbClr val="1A1A1A"/>
                </a:solidFill>
                <a:latin typeface="Arial"/>
              </a:rPr>
              <a:t>Can agents work through a workbench as accurately as they write code?</a:t>
            </a:r>
          </a:p>
        </p:txBody>
      </p:sp>
      <p:sp>
        <p:nvSpPr>
          <p:cNvPr id="5" name="Rounded Rectangle 4"/>
          <p:cNvSpPr/>
          <p:nvPr/>
        </p:nvSpPr>
        <p:spPr>
          <a:xfrm>
            <a:off x="548640" y="1920240"/>
            <a:ext cx="11064240" cy="1234440"/>
          </a:xfrm>
          <a:prstGeom prst="roundRect">
            <a:avLst>
              <a:gd name="adj" fmla="val 8000"/>
            </a:avLst>
          </a:prstGeom>
          <a:solidFill>
            <a:srgbClr val="E5F1F8"/>
          </a:solidFill>
          <a:ln>
            <a:noFill/>
          </a:ln>
          <a:effectLst/>
        </p:spPr>
        <p:txBody>
          <a:bodyPr rtlCol="0" anchor="ctr"/>
          <a:lstStyle/>
          <a:p/>
        </p:txBody>
      </p:sp>
      <p:sp>
        <p:nvSpPr>
          <p:cNvPr id="6" name="TextBox 5"/>
          <p:cNvSpPr txBox="1"/>
          <p:nvPr/>
        </p:nvSpPr>
        <p:spPr>
          <a:xfrm>
            <a:off x="868680" y="2029968"/>
            <a:ext cx="10515600" cy="1051560"/>
          </a:xfrm>
          <a:prstGeom prst="rect">
            <a:avLst/>
          </a:prstGeom>
          <a:noFill/>
        </p:spPr>
        <p:txBody>
          <a:bodyPr wrap="square" lIns="0" rIns="0" tIns="0" bIns="0" anchor="ctr">
            <a:spAutoFit/>
          </a:bodyPr>
          <a:lstStyle/>
          <a:p>
            <a:pPr algn="l">
              <a:lnSpc>
                <a:spcPct val="105000"/>
              </a:lnSpc>
              <a:spcAft>
                <a:spcPts val="600"/>
              </a:spcAft>
            </a:pPr>
            <a:r>
              <a:rPr sz="2000" b="1" i="0">
                <a:solidFill>
                  <a:srgbClr val="0072B2"/>
                </a:solidFill>
                <a:latin typeface="Arial"/>
              </a:rPr>
              <a:t>Hypothesis. </a:t>
            </a:r>
            <a:r>
              <a:rPr sz="2000" b="0" i="0">
                <a:solidFill>
                  <a:srgbClr val="1A1A1A"/>
                </a:solidFill>
                <a:latin typeface="Arial"/>
              </a:rPr>
              <a:t>AI agents can perform bioinformatics analyses through Galaxy as accurately as with custom code, and the analyses they produce are recorded, inspectable and rerunnable.</a:t>
            </a:r>
          </a:p>
        </p:txBody>
      </p:sp>
      <p:sp>
        <p:nvSpPr>
          <p:cNvPr id="7" name="TextBox 6"/>
          <p:cNvSpPr txBox="1"/>
          <p:nvPr/>
        </p:nvSpPr>
        <p:spPr>
          <a:xfrm>
            <a:off x="548640" y="3429000"/>
            <a:ext cx="10972800" cy="365760"/>
          </a:xfrm>
          <a:prstGeom prst="rect">
            <a:avLst/>
          </a:prstGeom>
          <a:noFill/>
        </p:spPr>
        <p:txBody>
          <a:bodyPr wrap="square" lIns="0" rIns="0" tIns="0" bIns="0" anchor="t">
            <a:spAutoFit/>
          </a:bodyPr>
          <a:lstStyle/>
          <a:p>
            <a:pPr algn="l">
              <a:lnSpc>
                <a:spcPct val="110000"/>
              </a:lnSpc>
              <a:spcAft>
                <a:spcPts val="600"/>
              </a:spcAft>
            </a:pPr>
            <a:r>
              <a:rPr sz="1800" b="1" i="0">
                <a:solidFill>
                  <a:srgbClr val="1A1A1A"/>
                </a:solidFill>
                <a:latin typeface="Arial"/>
              </a:rPr>
              <a:t>Why both together, and why this matters</a:t>
            </a:r>
          </a:p>
        </p:txBody>
      </p:sp>
      <p:sp>
        <p:nvSpPr>
          <p:cNvPr id="8" name="Rounded Rectangle 7"/>
          <p:cNvSpPr/>
          <p:nvPr/>
        </p:nvSpPr>
        <p:spPr>
          <a:xfrm>
            <a:off x="548640" y="3886200"/>
            <a:ext cx="3566160" cy="1965960"/>
          </a:xfrm>
          <a:prstGeom prst="roundRect">
            <a:avLst>
              <a:gd name="adj" fmla="val 8000"/>
            </a:avLst>
          </a:prstGeom>
          <a:solidFill>
            <a:srgbClr val="F4F5F6"/>
          </a:solidFill>
          <a:ln>
            <a:noFill/>
          </a:ln>
          <a:effectLst/>
        </p:spPr>
        <p:txBody>
          <a:bodyPr rtlCol="0" anchor="ctr"/>
          <a:lstStyle/>
          <a:p/>
        </p:txBody>
      </p:sp>
      <p:sp>
        <p:nvSpPr>
          <p:cNvPr id="9" name="TextBox 8"/>
          <p:cNvSpPr txBox="1"/>
          <p:nvPr/>
        </p:nvSpPr>
        <p:spPr>
          <a:xfrm>
            <a:off x="777240" y="4041648"/>
            <a:ext cx="3154680" cy="365760"/>
          </a:xfrm>
          <a:prstGeom prst="rect">
            <a:avLst/>
          </a:prstGeom>
          <a:noFill/>
        </p:spPr>
        <p:txBody>
          <a:bodyPr wrap="square" lIns="0" rIns="0" tIns="0" bIns="0" anchor="t">
            <a:spAutoFit/>
          </a:bodyPr>
          <a:lstStyle/>
          <a:p>
            <a:pPr algn="l">
              <a:lnSpc>
                <a:spcPct val="110000"/>
              </a:lnSpc>
              <a:spcAft>
                <a:spcPts val="600"/>
              </a:spcAft>
            </a:pPr>
            <a:r>
              <a:rPr sz="1700" b="1" i="0">
                <a:solidFill>
                  <a:srgbClr val="1A1A1A"/>
                </a:solidFill>
                <a:latin typeface="Arial"/>
              </a:rPr>
              <a:t>Recorded and inspectable</a:t>
            </a:r>
          </a:p>
        </p:txBody>
      </p:sp>
      <p:sp>
        <p:nvSpPr>
          <p:cNvPr id="10" name="TextBox 9"/>
          <p:cNvSpPr txBox="1"/>
          <p:nvPr/>
        </p:nvSpPr>
        <p:spPr>
          <a:xfrm>
            <a:off x="777240" y="4462272"/>
            <a:ext cx="3154680" cy="1325880"/>
          </a:xfrm>
          <a:prstGeom prst="rect">
            <a:avLst/>
          </a:prstGeom>
          <a:noFill/>
        </p:spPr>
        <p:txBody>
          <a:bodyPr wrap="square" lIns="0" rIns="0" tIns="0" bIns="0" anchor="t">
            <a:spAutoFit/>
          </a:bodyPr>
          <a:lstStyle/>
          <a:p>
            <a:pPr algn="l">
              <a:lnSpc>
                <a:spcPct val="110000"/>
              </a:lnSpc>
              <a:spcAft>
                <a:spcPts val="600"/>
              </a:spcAft>
            </a:pPr>
            <a:r>
              <a:rPr sz="1400" b="0" i="0">
                <a:solidFill>
                  <a:srgbClr val="555555"/>
                </a:solidFill>
                <a:latin typeface="Arial"/>
              </a:rPr>
              <a:t>Every Galaxy run leaves a structured record of every tool, parameter and dataset. People can review the analysis in Galaxy and rerun or continue it without using model tokens.</a:t>
            </a:r>
          </a:p>
        </p:txBody>
      </p:sp>
      <p:sp>
        <p:nvSpPr>
          <p:cNvPr id="11" name="Rounded Rectangle 10"/>
          <p:cNvSpPr/>
          <p:nvPr/>
        </p:nvSpPr>
        <p:spPr>
          <a:xfrm>
            <a:off x="4297679" y="3886200"/>
            <a:ext cx="3566160" cy="1965960"/>
          </a:xfrm>
          <a:prstGeom prst="roundRect">
            <a:avLst>
              <a:gd name="adj" fmla="val 8000"/>
            </a:avLst>
          </a:prstGeom>
          <a:solidFill>
            <a:srgbClr val="F4F5F6"/>
          </a:solidFill>
          <a:ln>
            <a:noFill/>
          </a:ln>
          <a:effectLst/>
        </p:spPr>
        <p:txBody>
          <a:bodyPr rtlCol="0" anchor="ctr"/>
          <a:lstStyle/>
          <a:p/>
        </p:txBody>
      </p:sp>
      <p:sp>
        <p:nvSpPr>
          <p:cNvPr id="12" name="TextBox 11"/>
          <p:cNvSpPr txBox="1"/>
          <p:nvPr/>
        </p:nvSpPr>
        <p:spPr>
          <a:xfrm>
            <a:off x="4526279" y="4041648"/>
            <a:ext cx="3154680" cy="365760"/>
          </a:xfrm>
          <a:prstGeom prst="rect">
            <a:avLst/>
          </a:prstGeom>
          <a:noFill/>
        </p:spPr>
        <p:txBody>
          <a:bodyPr wrap="square" lIns="0" rIns="0" tIns="0" bIns="0" anchor="t">
            <a:spAutoFit/>
          </a:bodyPr>
          <a:lstStyle/>
          <a:p>
            <a:pPr algn="l">
              <a:lnSpc>
                <a:spcPct val="110000"/>
              </a:lnSpc>
              <a:spcAft>
                <a:spcPts val="600"/>
              </a:spcAft>
            </a:pPr>
            <a:r>
              <a:rPr sz="1700" b="1" i="0">
                <a:solidFill>
                  <a:srgbClr val="1A1A1A"/>
                </a:solidFill>
                <a:latin typeface="Arial"/>
              </a:rPr>
              <a:t>Rigor becomes cheap</a:t>
            </a:r>
          </a:p>
        </p:txBody>
      </p:sp>
      <p:sp>
        <p:nvSpPr>
          <p:cNvPr id="13" name="TextBox 12"/>
          <p:cNvSpPr txBox="1"/>
          <p:nvPr/>
        </p:nvSpPr>
        <p:spPr>
          <a:xfrm>
            <a:off x="4526279" y="4462272"/>
            <a:ext cx="3154680" cy="1325880"/>
          </a:xfrm>
          <a:prstGeom prst="rect">
            <a:avLst/>
          </a:prstGeom>
          <a:noFill/>
        </p:spPr>
        <p:txBody>
          <a:bodyPr wrap="square" lIns="0" rIns="0" tIns="0" bIns="0" anchor="t">
            <a:spAutoFit/>
          </a:bodyPr>
          <a:lstStyle/>
          <a:p>
            <a:pPr algn="l">
              <a:lnSpc>
                <a:spcPct val="110000"/>
              </a:lnSpc>
              <a:spcAft>
                <a:spcPts val="600"/>
              </a:spcAft>
            </a:pPr>
            <a:r>
              <a:rPr sz="1400" b="0" i="0">
                <a:solidFill>
                  <a:srgbClr val="555555"/>
                </a:solidFill>
                <a:latin typeface="Arial"/>
              </a:rPr>
              <a:t>Galaxy makes rigor-improving approaches cheap: running several methods for the same step and comparing them, or validating results before reporting.</a:t>
            </a:r>
          </a:p>
        </p:txBody>
      </p:sp>
      <p:sp>
        <p:nvSpPr>
          <p:cNvPr id="14" name="Rounded Rectangle 13"/>
          <p:cNvSpPr/>
          <p:nvPr/>
        </p:nvSpPr>
        <p:spPr>
          <a:xfrm>
            <a:off x="8046719" y="3886200"/>
            <a:ext cx="3566160" cy="1965960"/>
          </a:xfrm>
          <a:prstGeom prst="roundRect">
            <a:avLst>
              <a:gd name="adj" fmla="val 8000"/>
            </a:avLst>
          </a:prstGeom>
          <a:solidFill>
            <a:srgbClr val="F4F5F6"/>
          </a:solidFill>
          <a:ln>
            <a:noFill/>
          </a:ln>
          <a:effectLst/>
        </p:spPr>
        <p:txBody>
          <a:bodyPr rtlCol="0" anchor="ctr"/>
          <a:lstStyle/>
          <a:p/>
        </p:txBody>
      </p:sp>
      <p:sp>
        <p:nvSpPr>
          <p:cNvPr id="15" name="TextBox 14"/>
          <p:cNvSpPr txBox="1"/>
          <p:nvPr/>
        </p:nvSpPr>
        <p:spPr>
          <a:xfrm>
            <a:off x="8275319" y="4041648"/>
            <a:ext cx="3154680" cy="365760"/>
          </a:xfrm>
          <a:prstGeom prst="rect">
            <a:avLst/>
          </a:prstGeom>
          <a:noFill/>
        </p:spPr>
        <p:txBody>
          <a:bodyPr wrap="square" lIns="0" rIns="0" tIns="0" bIns="0" anchor="t">
            <a:spAutoFit/>
          </a:bodyPr>
          <a:lstStyle/>
          <a:p>
            <a:pPr algn="l">
              <a:lnSpc>
                <a:spcPct val="110000"/>
              </a:lnSpc>
              <a:spcAft>
                <a:spcPts val="600"/>
              </a:spcAft>
            </a:pPr>
            <a:r>
              <a:rPr sz="1700" b="1" i="0">
                <a:solidFill>
                  <a:srgbClr val="1A1A1A"/>
                </a:solidFill>
                <a:latin typeface="Arial"/>
              </a:rPr>
              <a:t>Agents as virtual users</a:t>
            </a:r>
          </a:p>
        </p:txBody>
      </p:sp>
      <p:sp>
        <p:nvSpPr>
          <p:cNvPr id="16" name="TextBox 15"/>
          <p:cNvSpPr txBox="1"/>
          <p:nvPr/>
        </p:nvSpPr>
        <p:spPr>
          <a:xfrm>
            <a:off x="8275319" y="4462272"/>
            <a:ext cx="3154680" cy="1325880"/>
          </a:xfrm>
          <a:prstGeom prst="rect">
            <a:avLst/>
          </a:prstGeom>
          <a:noFill/>
        </p:spPr>
        <p:txBody>
          <a:bodyPr wrap="square" lIns="0" rIns="0" tIns="0" bIns="0" anchor="t">
            <a:spAutoFit/>
          </a:bodyPr>
          <a:lstStyle/>
          <a:p>
            <a:pPr algn="l">
              <a:lnSpc>
                <a:spcPct val="110000"/>
              </a:lnSpc>
              <a:spcAft>
                <a:spcPts val="600"/>
              </a:spcAft>
            </a:pPr>
            <a:r>
              <a:rPr sz="1400" b="0" i="0">
                <a:solidFill>
                  <a:srgbClr val="555555"/>
                </a:solidFill>
                <a:latin typeface="Arial"/>
              </a:rPr>
              <a:t>Agent traces show where scientific software is hard to use, and give a quantitative cost for each problem.</a:t>
            </a:r>
          </a:p>
        </p:txBody>
      </p:sp>
      <p:sp>
        <p:nvSpPr>
          <p:cNvPr id="17" name="TextBox 16"/>
          <p:cNvSpPr txBox="1"/>
          <p:nvPr/>
        </p:nvSpPr>
        <p:spPr>
          <a:xfrm>
            <a:off x="548640" y="5989320"/>
            <a:ext cx="11064240" cy="365760"/>
          </a:xfrm>
          <a:prstGeom prst="rect">
            <a:avLst/>
          </a:prstGeom>
          <a:noFill/>
        </p:spPr>
        <p:txBody>
          <a:bodyPr wrap="square" lIns="0" rIns="0" tIns="0" bIns="0" anchor="t">
            <a:spAutoFit/>
          </a:bodyPr>
          <a:lstStyle/>
          <a:p>
            <a:pPr algn="l">
              <a:lnSpc>
                <a:spcPct val="110000"/>
              </a:lnSpc>
              <a:spcAft>
                <a:spcPts val="600"/>
              </a:spcAft>
            </a:pPr>
            <a:r>
              <a:rPr sz="1400" b="1" i="0">
                <a:solidFill>
                  <a:srgbClr val="555555"/>
                </a:solidFill>
                <a:latin typeface="Arial"/>
              </a:rPr>
              <a:t>Not the claim: </a:t>
            </a:r>
            <a:r>
              <a:rPr sz="1400" b="0" i="0">
                <a:solidFill>
                  <a:srgbClr val="555555"/>
                </a:solidFill>
                <a:latin typeface="Arial"/>
              </a:rPr>
              <a:t>a new benchmark, or that Galaxy beats custom code.</a:t>
            </a:r>
          </a:p>
        </p:txBody>
      </p:sp>
      <p:sp>
        <p:nvSpPr>
          <p:cNvPr id="18" name="TextBox 17"/>
          <p:cNvSpPr txBox="1"/>
          <p:nvPr/>
        </p:nvSpPr>
        <p:spPr>
          <a:xfrm>
            <a:off x="548640" y="6428232"/>
            <a:ext cx="10241280" cy="320040"/>
          </a:xfrm>
          <a:prstGeom prst="rect">
            <a:avLst/>
          </a:prstGeom>
          <a:noFill/>
        </p:spPr>
        <p:txBody>
          <a:bodyPr wrap="square" lIns="0" rIns="0" tIns="0" bIns="0" anchor="t">
            <a:spAutoFit/>
          </a:bodyPr>
          <a:lstStyle/>
          <a:p>
            <a:pPr algn="l">
              <a:lnSpc>
                <a:spcPct val="100000"/>
              </a:lnSpc>
              <a:spcAft>
                <a:spcPts val="600"/>
              </a:spcAft>
            </a:pPr>
            <a:r>
              <a:rPr sz="1000" b="0" i="0">
                <a:solidFill>
                  <a:srgbClr val="555555"/>
                </a:solidFill>
                <a:latin typeface="Arial"/>
              </a:rPr>
              <a:t>Outline framing, abstract and P6. The rigor approaches are hypotheses this study did not test.</a:t>
            </a:r>
          </a:p>
        </p:txBody>
      </p:sp>
      <p:sp>
        <p:nvSpPr>
          <p:cNvPr id="19" name="TextBox 18"/>
          <p:cNvSpPr txBox="1"/>
          <p:nvPr/>
        </p:nvSpPr>
        <p:spPr>
          <a:xfrm>
            <a:off x="11064240" y="6428232"/>
            <a:ext cx="594360" cy="274320"/>
          </a:xfrm>
          <a:prstGeom prst="rect">
            <a:avLst/>
          </a:prstGeom>
          <a:noFill/>
        </p:spPr>
        <p:txBody>
          <a:bodyPr wrap="square" lIns="0" rIns="0" tIns="0" bIns="0" anchor="t">
            <a:spAutoFit/>
          </a:bodyPr>
          <a:lstStyle/>
          <a:p>
            <a:pPr algn="r">
              <a:lnSpc>
                <a:spcPct val="110000"/>
              </a:lnSpc>
              <a:spcAft>
                <a:spcPts val="600"/>
              </a:spcAft>
            </a:pPr>
            <a:r>
              <a:rPr sz="1000" b="0" i="0">
                <a:solidFill>
                  <a:srgbClr val="555555"/>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84048"/>
            <a:ext cx="73152" cy="274320"/>
          </a:xfrm>
          <a:prstGeom prst="rect">
            <a:avLst/>
          </a:prstGeom>
          <a:solidFill>
            <a:srgbClr val="0072B2"/>
          </a:solidFill>
          <a:ln>
            <a:noFill/>
          </a:ln>
          <a:effectLst/>
        </p:spPr>
        <p:txBody>
          <a:bodyPr rtlCol="0" anchor="ctr"/>
          <a:lstStyle/>
          <a:p/>
        </p:txBody>
      </p:sp>
      <p:sp>
        <p:nvSpPr>
          <p:cNvPr id="3" name="TextBox 2"/>
          <p:cNvSpPr txBox="1"/>
          <p:nvPr/>
        </p:nvSpPr>
        <p:spPr>
          <a:xfrm>
            <a:off x="731520" y="365760"/>
            <a:ext cx="10515600" cy="320040"/>
          </a:xfrm>
          <a:prstGeom prst="rect">
            <a:avLst/>
          </a:prstGeom>
          <a:noFill/>
        </p:spPr>
        <p:txBody>
          <a:bodyPr wrap="square" lIns="0" rIns="0" tIns="0" bIns="0" anchor="t">
            <a:spAutoFit/>
          </a:bodyPr>
          <a:lstStyle/>
          <a:p>
            <a:pPr algn="l">
              <a:lnSpc>
                <a:spcPct val="110000"/>
              </a:lnSpc>
              <a:spcAft>
                <a:spcPts val="600"/>
              </a:spcAft>
            </a:pPr>
            <a:r>
              <a:rPr sz="1250" b="1" i="0">
                <a:solidFill>
                  <a:srgbClr val="555555"/>
                </a:solidFill>
                <a:latin typeface="Arial"/>
              </a:rPr>
              <a:t>EXPERIMENTAL DESIGN AND SETUP</a:t>
            </a:r>
          </a:p>
        </p:txBody>
      </p:sp>
      <p:sp>
        <p:nvSpPr>
          <p:cNvPr id="4" name="TextBox 3"/>
          <p:cNvSpPr txBox="1"/>
          <p:nvPr/>
        </p:nvSpPr>
        <p:spPr>
          <a:xfrm>
            <a:off x="548640" y="749808"/>
            <a:ext cx="11064240" cy="1051560"/>
          </a:xfrm>
          <a:prstGeom prst="rect">
            <a:avLst/>
          </a:prstGeom>
          <a:noFill/>
        </p:spPr>
        <p:txBody>
          <a:bodyPr wrap="square" lIns="0" rIns="0" tIns="0" bIns="0" anchor="t">
            <a:spAutoFit/>
          </a:bodyPr>
          <a:lstStyle/>
          <a:p>
            <a:pPr algn="l">
              <a:lnSpc>
                <a:spcPct val="100000"/>
              </a:lnSpc>
              <a:spcAft>
                <a:spcPts val="600"/>
              </a:spcAft>
            </a:pPr>
            <a:r>
              <a:rPr sz="2700" b="1" i="0">
                <a:solidFill>
                  <a:srgbClr val="1A1A1A"/>
                </a:solidFill>
                <a:latin typeface="Arial"/>
              </a:rPr>
              <a:t>Same model, two conditions: 160 tasks × 4 models × 3 replicates = 3,840 runs</a:t>
            </a:r>
          </a:p>
        </p:txBody>
      </p:sp>
      <p:sp>
        <p:nvSpPr>
          <p:cNvPr id="5" name="Rounded Rectangle 4"/>
          <p:cNvSpPr/>
          <p:nvPr/>
        </p:nvSpPr>
        <p:spPr>
          <a:xfrm>
            <a:off x="548640" y="2011680"/>
            <a:ext cx="2651760" cy="3291840"/>
          </a:xfrm>
          <a:prstGeom prst="roundRect">
            <a:avLst>
              <a:gd name="adj" fmla="val 8000"/>
            </a:avLst>
          </a:prstGeom>
          <a:solidFill>
            <a:srgbClr val="F4F5F6"/>
          </a:solidFill>
          <a:ln>
            <a:noFill/>
          </a:ln>
          <a:effectLst/>
        </p:spPr>
        <p:txBody>
          <a:bodyPr rtlCol="0" anchor="ctr"/>
          <a:lstStyle/>
          <a:p/>
        </p:txBody>
      </p:sp>
      <p:sp>
        <p:nvSpPr>
          <p:cNvPr id="6" name="TextBox 5"/>
          <p:cNvSpPr txBox="1"/>
          <p:nvPr/>
        </p:nvSpPr>
        <p:spPr>
          <a:xfrm>
            <a:off x="731520" y="2148840"/>
            <a:ext cx="2377440" cy="548640"/>
          </a:xfrm>
          <a:prstGeom prst="rect">
            <a:avLst/>
          </a:prstGeom>
          <a:noFill/>
        </p:spPr>
        <p:txBody>
          <a:bodyPr wrap="square" lIns="0" rIns="0" tIns="0" bIns="0" anchor="t">
            <a:spAutoFit/>
          </a:bodyPr>
          <a:lstStyle/>
          <a:p>
            <a:pPr algn="l">
              <a:lnSpc>
                <a:spcPct val="100000"/>
              </a:lnSpc>
              <a:spcAft>
                <a:spcPts val="600"/>
              </a:spcAft>
            </a:pPr>
            <a:r>
              <a:rPr sz="1600" b="1" i="0">
                <a:solidFill>
                  <a:srgbClr val="1A1A1A"/>
                </a:solidFill>
                <a:latin typeface="Arial"/>
              </a:rPr>
              <a:t>Four model configurations</a:t>
            </a:r>
          </a:p>
        </p:txBody>
      </p:sp>
      <p:sp>
        <p:nvSpPr>
          <p:cNvPr id="7" name="TextBox 6"/>
          <p:cNvSpPr txBox="1"/>
          <p:nvPr/>
        </p:nvSpPr>
        <p:spPr>
          <a:xfrm>
            <a:off x="731520" y="2697480"/>
            <a:ext cx="2377440" cy="274320"/>
          </a:xfrm>
          <a:prstGeom prst="rect">
            <a:avLst/>
          </a:prstGeom>
          <a:noFill/>
        </p:spPr>
        <p:txBody>
          <a:bodyPr wrap="square" lIns="0" rIns="0" tIns="0" bIns="0" anchor="t">
            <a:spAutoFit/>
          </a:bodyPr>
          <a:lstStyle/>
          <a:p>
            <a:pPr algn="l">
              <a:lnSpc>
                <a:spcPct val="110000"/>
              </a:lnSpc>
              <a:spcAft>
                <a:spcPts val="600"/>
              </a:spcAft>
            </a:pPr>
            <a:r>
              <a:rPr sz="1300" b="0" i="0">
                <a:solidFill>
                  <a:srgbClr val="555555"/>
                </a:solidFill>
                <a:latin typeface="Arial"/>
              </a:rPr>
              <a:t>in the Codex harness</a:t>
            </a:r>
          </a:p>
        </p:txBody>
      </p:sp>
      <p:sp>
        <p:nvSpPr>
          <p:cNvPr id="8" name="TextBox 7"/>
          <p:cNvSpPr txBox="1"/>
          <p:nvPr/>
        </p:nvSpPr>
        <p:spPr>
          <a:xfrm>
            <a:off x="731520" y="3154680"/>
            <a:ext cx="2377440" cy="2103120"/>
          </a:xfrm>
          <a:prstGeom prst="rect">
            <a:avLst/>
          </a:prstGeom>
          <a:noFill/>
        </p:spPr>
        <p:txBody>
          <a:bodyPr wrap="square" lIns="0" rIns="0" tIns="0" bIns="0" anchor="t">
            <a:spAutoFit/>
          </a:bodyPr>
          <a:lstStyle/>
          <a:p>
            <a:pPr algn="l" marL="219456" indent="-219456">
              <a:lnSpc>
                <a:spcPct val="110000"/>
              </a:lnSpc>
              <a:spcAft>
                <a:spcPts val="800"/>
              </a:spcAft>
            </a:pPr>
            <a:r>
              <a:rPr sz="1500" b="1" i="0">
                <a:solidFill>
                  <a:srgbClr val="8A8A8A"/>
                </a:solidFill>
                <a:latin typeface="Arial"/>
              </a:rPr>
              <a:t>•  </a:t>
            </a:r>
            <a:r>
              <a:rPr sz="1500" b="0" i="0">
                <a:solidFill>
                  <a:srgbClr val="1A1A1A"/>
                </a:solidFill>
                <a:latin typeface="Arial"/>
              </a:rPr>
              <a:t>GPT-5.5</a:t>
            </a:r>
          </a:p>
          <a:p>
            <a:pPr algn="l" marL="219456" indent="-219456">
              <a:lnSpc>
                <a:spcPct val="110000"/>
              </a:lnSpc>
              <a:spcAft>
                <a:spcPts val="800"/>
              </a:spcAft>
            </a:pPr>
            <a:r>
              <a:rPr sz="1500" b="1" i="0">
                <a:solidFill>
                  <a:srgbClr val="8A8A8A"/>
                </a:solidFill>
                <a:latin typeface="Arial"/>
              </a:rPr>
              <a:t>•  </a:t>
            </a:r>
            <a:r>
              <a:rPr sz="1500" b="0" i="0">
                <a:solidFill>
                  <a:srgbClr val="1A1A1A"/>
                </a:solidFill>
                <a:latin typeface="Arial"/>
              </a:rPr>
              <a:t>GPT-5.6 Sol</a:t>
            </a:r>
          </a:p>
          <a:p>
            <a:pPr algn="l" marL="219456" indent="-219456">
              <a:lnSpc>
                <a:spcPct val="110000"/>
              </a:lnSpc>
              <a:spcAft>
                <a:spcPts val="800"/>
              </a:spcAft>
            </a:pPr>
            <a:r>
              <a:rPr sz="1500" b="1" i="0">
                <a:solidFill>
                  <a:srgbClr val="8A8A8A"/>
                </a:solidFill>
                <a:latin typeface="Arial"/>
              </a:rPr>
              <a:t>•  </a:t>
            </a:r>
            <a:r>
              <a:rPr sz="1500" b="0" i="0">
                <a:solidFill>
                  <a:srgbClr val="1A1A1A"/>
                </a:solidFill>
                <a:latin typeface="Arial"/>
              </a:rPr>
              <a:t>GPT-5.6 Luna</a:t>
            </a:r>
          </a:p>
          <a:p>
            <a:pPr algn="l" marL="219456" indent="-219456">
              <a:lnSpc>
                <a:spcPct val="110000"/>
              </a:lnSpc>
              <a:spcAft>
                <a:spcPts val="800"/>
              </a:spcAft>
            </a:pPr>
            <a:r>
              <a:rPr sz="1500" b="1" i="0">
                <a:solidFill>
                  <a:srgbClr val="8A8A8A"/>
                </a:solidFill>
                <a:latin typeface="Arial"/>
              </a:rPr>
              <a:t>•  </a:t>
            </a:r>
            <a:r>
              <a:rPr sz="1500" b="0" i="0">
                <a:solidFill>
                  <a:srgbClr val="1A1A1A"/>
                </a:solidFill>
                <a:latin typeface="Arial"/>
              </a:rPr>
              <a:t>DeepSeek V4 Pro</a:t>
            </a:r>
          </a:p>
        </p:txBody>
      </p:sp>
      <p:cxnSp>
        <p:nvCxnSpPr>
          <p:cNvPr id="9" name="Connector 8"/>
          <p:cNvCxnSpPr/>
          <p:nvPr/>
        </p:nvCxnSpPr>
        <p:spPr>
          <a:xfrm flipV="1">
            <a:off x="3246120" y="2697480"/>
            <a:ext cx="457200" cy="411480"/>
          </a:xfrm>
          <a:prstGeom prst="line">
            <a:avLst/>
          </a:prstGeom>
          <a:ln w="25400">
            <a:solidFill>
              <a:srgbClr val="8A8A8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246120" y="4206240"/>
            <a:ext cx="457200" cy="411480"/>
          </a:xfrm>
          <a:prstGeom prst="line">
            <a:avLst/>
          </a:prstGeom>
          <a:ln w="25400">
            <a:solidFill>
              <a:srgbClr val="8A8A8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749039" y="2011680"/>
            <a:ext cx="3657600" cy="1508760"/>
          </a:xfrm>
          <a:prstGeom prst="roundRect">
            <a:avLst>
              <a:gd name="adj" fmla="val 8000"/>
            </a:avLst>
          </a:prstGeom>
          <a:solidFill>
            <a:srgbClr val="E5F1F8"/>
          </a:solidFill>
          <a:ln w="19050">
            <a:solidFill>
              <a:srgbClr val="0072B2"/>
            </a:solidFill>
          </a:ln>
          <a:effectLst/>
        </p:spPr>
        <p:txBody>
          <a:bodyPr rtlCol="0" anchor="ctr"/>
          <a:lstStyle/>
          <a:p/>
        </p:txBody>
      </p:sp>
      <p:sp>
        <p:nvSpPr>
          <p:cNvPr id="12" name="TextBox 11"/>
          <p:cNvSpPr txBox="1"/>
          <p:nvPr/>
        </p:nvSpPr>
        <p:spPr>
          <a:xfrm>
            <a:off x="3977639" y="2130552"/>
            <a:ext cx="3291840" cy="320040"/>
          </a:xfrm>
          <a:prstGeom prst="rect">
            <a:avLst/>
          </a:prstGeom>
          <a:noFill/>
        </p:spPr>
        <p:txBody>
          <a:bodyPr wrap="square" lIns="0" rIns="0" tIns="0" bIns="0" anchor="t">
            <a:spAutoFit/>
          </a:bodyPr>
          <a:lstStyle/>
          <a:p>
            <a:pPr algn="l">
              <a:lnSpc>
                <a:spcPct val="110000"/>
              </a:lnSpc>
              <a:spcAft>
                <a:spcPts val="600"/>
              </a:spcAft>
            </a:pPr>
            <a:r>
              <a:rPr sz="1800" b="1" i="0">
                <a:solidFill>
                  <a:srgbClr val="0072B2"/>
                </a:solidFill>
                <a:latin typeface="Arial"/>
              </a:rPr>
              <a:t>Galaxy</a:t>
            </a:r>
          </a:p>
        </p:txBody>
      </p:sp>
      <p:sp>
        <p:nvSpPr>
          <p:cNvPr id="13" name="TextBox 12"/>
          <p:cNvSpPr txBox="1"/>
          <p:nvPr/>
        </p:nvSpPr>
        <p:spPr>
          <a:xfrm>
            <a:off x="3977639" y="2514600"/>
            <a:ext cx="3291840" cy="914400"/>
          </a:xfrm>
          <a:prstGeom prst="rect">
            <a:avLst/>
          </a:prstGeom>
          <a:noFill/>
        </p:spPr>
        <p:txBody>
          <a:bodyPr wrap="square" lIns="0" rIns="0" tIns="0" bIns="0" anchor="t">
            <a:spAutoFit/>
          </a:bodyPr>
          <a:lstStyle/>
          <a:p>
            <a:pPr algn="l">
              <a:lnSpc>
                <a:spcPct val="105000"/>
              </a:lnSpc>
              <a:spcAft>
                <a:spcPts val="600"/>
              </a:spcAft>
            </a:pPr>
            <a:r>
              <a:rPr sz="1350" b="0" i="0">
                <a:solidFill>
                  <a:srgbClr val="1A1A1A"/>
                </a:solidFill>
                <a:latin typeface="Arial"/>
              </a:rPr>
              <a:t>All analysis runs as Galaxy jobs, including UDTs, through the Galaxy MCP server</a:t>
            </a:r>
          </a:p>
        </p:txBody>
      </p:sp>
      <p:sp>
        <p:nvSpPr>
          <p:cNvPr id="14" name="Rounded Rectangle 13"/>
          <p:cNvSpPr/>
          <p:nvPr/>
        </p:nvSpPr>
        <p:spPr>
          <a:xfrm>
            <a:off x="3749039" y="3794760"/>
            <a:ext cx="3657600" cy="1508760"/>
          </a:xfrm>
          <a:prstGeom prst="roundRect">
            <a:avLst>
              <a:gd name="adj" fmla="val 8000"/>
            </a:avLst>
          </a:prstGeom>
          <a:solidFill>
            <a:srgbClr val="FBECE0"/>
          </a:solidFill>
          <a:ln w="19050">
            <a:solidFill>
              <a:srgbClr val="D55E00"/>
            </a:solidFill>
          </a:ln>
          <a:effectLst/>
        </p:spPr>
        <p:txBody>
          <a:bodyPr rtlCol="0" anchor="ctr"/>
          <a:lstStyle/>
          <a:p/>
        </p:txBody>
      </p:sp>
      <p:sp>
        <p:nvSpPr>
          <p:cNvPr id="15" name="TextBox 14"/>
          <p:cNvSpPr txBox="1"/>
          <p:nvPr/>
        </p:nvSpPr>
        <p:spPr>
          <a:xfrm>
            <a:off x="3977639" y="3913632"/>
            <a:ext cx="3291840" cy="320040"/>
          </a:xfrm>
          <a:prstGeom prst="rect">
            <a:avLst/>
          </a:prstGeom>
          <a:noFill/>
        </p:spPr>
        <p:txBody>
          <a:bodyPr wrap="square" lIns="0" rIns="0" tIns="0" bIns="0" anchor="t">
            <a:spAutoFit/>
          </a:bodyPr>
          <a:lstStyle/>
          <a:p>
            <a:pPr algn="l">
              <a:lnSpc>
                <a:spcPct val="110000"/>
              </a:lnSpc>
              <a:spcAft>
                <a:spcPts val="600"/>
              </a:spcAft>
            </a:pPr>
            <a:r>
              <a:rPr sz="1800" b="1" i="0">
                <a:solidFill>
                  <a:srgbClr val="D55E00"/>
                </a:solidFill>
                <a:latin typeface="Arial"/>
              </a:rPr>
              <a:t>Custom code (baseline)</a:t>
            </a:r>
          </a:p>
        </p:txBody>
      </p:sp>
      <p:sp>
        <p:nvSpPr>
          <p:cNvPr id="16" name="TextBox 15"/>
          <p:cNvSpPr txBox="1"/>
          <p:nvPr/>
        </p:nvSpPr>
        <p:spPr>
          <a:xfrm>
            <a:off x="3977639" y="4297680"/>
            <a:ext cx="3291840" cy="914400"/>
          </a:xfrm>
          <a:prstGeom prst="rect">
            <a:avLst/>
          </a:prstGeom>
          <a:noFill/>
        </p:spPr>
        <p:txBody>
          <a:bodyPr wrap="square" lIns="0" rIns="0" tIns="0" bIns="0" anchor="t">
            <a:spAutoFit/>
          </a:bodyPr>
          <a:lstStyle/>
          <a:p>
            <a:pPr algn="l">
              <a:lnSpc>
                <a:spcPct val="105000"/>
              </a:lnSpc>
              <a:spcAft>
                <a:spcPts val="600"/>
              </a:spcAft>
            </a:pPr>
            <a:r>
              <a:rPr sz="1350" b="0" i="0">
                <a:solidFill>
                  <a:srgbClr val="1A1A1A"/>
                </a:solidFill>
                <a:latin typeface="Arial"/>
              </a:rPr>
              <a:t>The agent installs software and writes its own code</a:t>
            </a:r>
          </a:p>
        </p:txBody>
      </p:sp>
      <p:cxnSp>
        <p:nvCxnSpPr>
          <p:cNvPr id="17" name="Connector 16"/>
          <p:cNvCxnSpPr/>
          <p:nvPr/>
        </p:nvCxnSpPr>
        <p:spPr>
          <a:xfrm>
            <a:off x="7452360" y="2761488"/>
            <a:ext cx="457200" cy="530352"/>
          </a:xfrm>
          <a:prstGeom prst="line">
            <a:avLst/>
          </a:prstGeom>
          <a:ln w="25400">
            <a:solidFill>
              <a:srgbClr val="8A8A8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7452360" y="4023360"/>
            <a:ext cx="457200" cy="521208"/>
          </a:xfrm>
          <a:prstGeom prst="line">
            <a:avLst/>
          </a:prstGeom>
          <a:ln w="25400">
            <a:solidFill>
              <a:srgbClr val="8A8A8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955279" y="2011680"/>
            <a:ext cx="3657600" cy="3291840"/>
          </a:xfrm>
          <a:prstGeom prst="roundRect">
            <a:avLst>
              <a:gd name="adj" fmla="val 8000"/>
            </a:avLst>
          </a:prstGeom>
          <a:solidFill>
            <a:srgbClr val="F4F5F6"/>
          </a:solidFill>
          <a:ln>
            <a:noFill/>
          </a:ln>
          <a:effectLst/>
        </p:spPr>
        <p:txBody>
          <a:bodyPr rtlCol="0" anchor="ctr"/>
          <a:lstStyle/>
          <a:p/>
        </p:txBody>
      </p:sp>
      <p:sp>
        <p:nvSpPr>
          <p:cNvPr id="20" name="TextBox 19"/>
          <p:cNvSpPr txBox="1"/>
          <p:nvPr/>
        </p:nvSpPr>
        <p:spPr>
          <a:xfrm>
            <a:off x="8183879" y="2148840"/>
            <a:ext cx="3291840" cy="320040"/>
          </a:xfrm>
          <a:prstGeom prst="rect">
            <a:avLst/>
          </a:prstGeom>
          <a:noFill/>
        </p:spPr>
        <p:txBody>
          <a:bodyPr wrap="square" lIns="0" rIns="0" tIns="0" bIns="0" anchor="t">
            <a:spAutoFit/>
          </a:bodyPr>
          <a:lstStyle/>
          <a:p>
            <a:pPr algn="l">
              <a:lnSpc>
                <a:spcPct val="110000"/>
              </a:lnSpc>
              <a:spcAft>
                <a:spcPts val="600"/>
              </a:spcAft>
            </a:pPr>
            <a:r>
              <a:rPr sz="1600" b="1" i="0">
                <a:solidFill>
                  <a:srgbClr val="1A1A1A"/>
                </a:solidFill>
                <a:latin typeface="Arial"/>
              </a:rPr>
              <a:t>Three benchmarks, 160 tasks</a:t>
            </a:r>
          </a:p>
        </p:txBody>
      </p:sp>
      <p:sp>
        <p:nvSpPr>
          <p:cNvPr id="21" name="TextBox 20"/>
          <p:cNvSpPr txBox="1"/>
          <p:nvPr/>
        </p:nvSpPr>
        <p:spPr>
          <a:xfrm>
            <a:off x="8183879" y="2651760"/>
            <a:ext cx="3291840" cy="274320"/>
          </a:xfrm>
          <a:prstGeom prst="rect">
            <a:avLst/>
          </a:prstGeom>
          <a:noFill/>
        </p:spPr>
        <p:txBody>
          <a:bodyPr wrap="square" lIns="0" rIns="0" tIns="0" bIns="0" anchor="t">
            <a:spAutoFit/>
          </a:bodyPr>
          <a:lstStyle/>
          <a:p>
            <a:pPr algn="l">
              <a:lnSpc>
                <a:spcPct val="110000"/>
              </a:lnSpc>
              <a:spcAft>
                <a:spcPts val="600"/>
              </a:spcAft>
            </a:pPr>
            <a:r>
              <a:rPr sz="1500" b="1" i="0">
                <a:solidFill>
                  <a:srgbClr val="1A1A1A"/>
                </a:solidFill>
                <a:latin typeface="Arial"/>
              </a:rPr>
              <a:t>BixBench-Verified-50</a:t>
            </a:r>
          </a:p>
        </p:txBody>
      </p:sp>
      <p:sp>
        <p:nvSpPr>
          <p:cNvPr id="22" name="TextBox 21"/>
          <p:cNvSpPr txBox="1"/>
          <p:nvPr/>
        </p:nvSpPr>
        <p:spPr>
          <a:xfrm>
            <a:off x="8183879" y="2953512"/>
            <a:ext cx="3291840" cy="457200"/>
          </a:xfrm>
          <a:prstGeom prst="rect">
            <a:avLst/>
          </a:prstGeom>
          <a:noFill/>
        </p:spPr>
        <p:txBody>
          <a:bodyPr wrap="square" lIns="0" rIns="0" tIns="0" bIns="0" anchor="t">
            <a:spAutoFit/>
          </a:bodyPr>
          <a:lstStyle/>
          <a:p>
            <a:pPr algn="l">
              <a:lnSpc>
                <a:spcPct val="110000"/>
              </a:lnSpc>
              <a:spcAft>
                <a:spcPts val="600"/>
              </a:spcAft>
            </a:pPr>
            <a:r>
              <a:rPr sz="1250" b="0" i="0">
                <a:solidFill>
                  <a:srgbClr val="555555"/>
                </a:solidFill>
                <a:latin typeface="Arial"/>
              </a:rPr>
              <a:t>50 tasks · accepted answer</a:t>
            </a:r>
          </a:p>
        </p:txBody>
      </p:sp>
      <p:sp>
        <p:nvSpPr>
          <p:cNvPr id="23" name="TextBox 22"/>
          <p:cNvSpPr txBox="1"/>
          <p:nvPr/>
        </p:nvSpPr>
        <p:spPr>
          <a:xfrm>
            <a:off x="8183879" y="3493008"/>
            <a:ext cx="3291840" cy="274320"/>
          </a:xfrm>
          <a:prstGeom prst="rect">
            <a:avLst/>
          </a:prstGeom>
          <a:noFill/>
        </p:spPr>
        <p:txBody>
          <a:bodyPr wrap="square" lIns="0" rIns="0" tIns="0" bIns="0" anchor="t">
            <a:spAutoFit/>
          </a:bodyPr>
          <a:lstStyle/>
          <a:p>
            <a:pPr algn="l">
              <a:lnSpc>
                <a:spcPct val="110000"/>
              </a:lnSpc>
              <a:spcAft>
                <a:spcPts val="600"/>
              </a:spcAft>
            </a:pPr>
            <a:r>
              <a:rPr sz="1500" b="1" i="0">
                <a:solidFill>
                  <a:srgbClr val="1A1A1A"/>
                </a:solidFill>
                <a:latin typeface="Arial"/>
              </a:rPr>
              <a:t>CompBioBench</a:t>
            </a:r>
          </a:p>
        </p:txBody>
      </p:sp>
      <p:sp>
        <p:nvSpPr>
          <p:cNvPr id="24" name="TextBox 23"/>
          <p:cNvSpPr txBox="1"/>
          <p:nvPr/>
        </p:nvSpPr>
        <p:spPr>
          <a:xfrm>
            <a:off x="8183879" y="3794759"/>
            <a:ext cx="3291840" cy="457200"/>
          </a:xfrm>
          <a:prstGeom prst="rect">
            <a:avLst/>
          </a:prstGeom>
          <a:noFill/>
        </p:spPr>
        <p:txBody>
          <a:bodyPr wrap="square" lIns="0" rIns="0" tIns="0" bIns="0" anchor="t">
            <a:spAutoFit/>
          </a:bodyPr>
          <a:lstStyle/>
          <a:p>
            <a:pPr algn="l">
              <a:lnSpc>
                <a:spcPct val="110000"/>
              </a:lnSpc>
              <a:spcAft>
                <a:spcPts val="600"/>
              </a:spcAft>
            </a:pPr>
            <a:r>
              <a:rPr sz="1250" b="0" i="0">
                <a:solidFill>
                  <a:srgbClr val="555555"/>
                </a:solidFill>
                <a:latin typeface="Arial"/>
              </a:rPr>
              <a:t>100 tasks · agreement with the key</a:t>
            </a:r>
          </a:p>
        </p:txBody>
      </p:sp>
      <p:sp>
        <p:nvSpPr>
          <p:cNvPr id="25" name="TextBox 24"/>
          <p:cNvSpPr txBox="1"/>
          <p:nvPr/>
        </p:nvSpPr>
        <p:spPr>
          <a:xfrm>
            <a:off x="8183879" y="4334256"/>
            <a:ext cx="3291840" cy="274320"/>
          </a:xfrm>
          <a:prstGeom prst="rect">
            <a:avLst/>
          </a:prstGeom>
          <a:noFill/>
        </p:spPr>
        <p:txBody>
          <a:bodyPr wrap="square" lIns="0" rIns="0" tIns="0" bIns="0" anchor="t">
            <a:spAutoFit/>
          </a:bodyPr>
          <a:lstStyle/>
          <a:p>
            <a:pPr algn="l">
              <a:lnSpc>
                <a:spcPct val="110000"/>
              </a:lnSpc>
              <a:spcAft>
                <a:spcPts val="600"/>
              </a:spcAft>
            </a:pPr>
            <a:r>
              <a:rPr sz="1500" b="1" i="0">
                <a:solidFill>
                  <a:srgbClr val="1A1A1A"/>
                </a:solidFill>
                <a:latin typeface="Arial"/>
              </a:rPr>
              <a:t>IWC-derived tasks</a:t>
            </a:r>
          </a:p>
        </p:txBody>
      </p:sp>
      <p:sp>
        <p:nvSpPr>
          <p:cNvPr id="26" name="TextBox 25"/>
          <p:cNvSpPr txBox="1"/>
          <p:nvPr/>
        </p:nvSpPr>
        <p:spPr>
          <a:xfrm>
            <a:off x="8183879" y="4636008"/>
            <a:ext cx="3291840" cy="457200"/>
          </a:xfrm>
          <a:prstGeom prst="rect">
            <a:avLst/>
          </a:prstGeom>
          <a:noFill/>
        </p:spPr>
        <p:txBody>
          <a:bodyPr wrap="square" lIns="0" rIns="0" tIns="0" bIns="0" anchor="t">
            <a:spAutoFit/>
          </a:bodyPr>
          <a:lstStyle/>
          <a:p>
            <a:pPr algn="l">
              <a:lnSpc>
                <a:spcPct val="110000"/>
              </a:lnSpc>
              <a:spcAft>
                <a:spcPts val="600"/>
              </a:spcAft>
            </a:pPr>
            <a:r>
              <a:rPr sz="1250" b="0" i="0">
                <a:solidFill>
                  <a:srgbClr val="555555"/>
                </a:solidFill>
                <a:latin typeface="Arial"/>
              </a:rPr>
              <a:t>10 tasks · output agreement, correct at ≥ 0.99</a:t>
            </a:r>
          </a:p>
        </p:txBody>
      </p:sp>
      <p:sp>
        <p:nvSpPr>
          <p:cNvPr id="27" name="Rounded Rectangle 26"/>
          <p:cNvSpPr/>
          <p:nvPr/>
        </p:nvSpPr>
        <p:spPr>
          <a:xfrm>
            <a:off x="548640" y="5532120"/>
            <a:ext cx="11064240" cy="731520"/>
          </a:xfrm>
          <a:prstGeom prst="roundRect">
            <a:avLst>
              <a:gd name="adj" fmla="val 8000"/>
            </a:avLst>
          </a:prstGeom>
          <a:solidFill>
            <a:srgbClr val="FFFFFF"/>
          </a:solidFill>
          <a:ln w="12700">
            <a:solidFill>
              <a:srgbClr val="D9DDE0"/>
            </a:solidFill>
          </a:ln>
          <a:effectLst/>
        </p:spPr>
        <p:txBody>
          <a:bodyPr rtlCol="0" anchor="ctr"/>
          <a:lstStyle/>
          <a:p/>
        </p:txBody>
      </p:sp>
      <p:sp>
        <p:nvSpPr>
          <p:cNvPr id="28" name="TextBox 27"/>
          <p:cNvSpPr txBox="1"/>
          <p:nvPr/>
        </p:nvSpPr>
        <p:spPr>
          <a:xfrm>
            <a:off x="777240" y="5577840"/>
            <a:ext cx="10607040" cy="640080"/>
          </a:xfrm>
          <a:prstGeom prst="rect">
            <a:avLst/>
          </a:prstGeom>
          <a:noFill/>
        </p:spPr>
        <p:txBody>
          <a:bodyPr wrap="square" lIns="0" rIns="0" tIns="0" bIns="0" anchor="ctr">
            <a:spAutoFit/>
          </a:bodyPr>
          <a:lstStyle/>
          <a:p>
            <a:pPr algn="l">
              <a:lnSpc>
                <a:spcPct val="105000"/>
              </a:lnSpc>
              <a:spcAft>
                <a:spcPts val="600"/>
              </a:spcAft>
            </a:pPr>
            <a:r>
              <a:rPr sz="1500" b="1" i="0">
                <a:solidFill>
                  <a:srgbClr val="1A1A1A"/>
                </a:solidFill>
                <a:latin typeface="Arial"/>
              </a:rPr>
              <a:t>3 replicates per task and condition → 3,840 runs.  </a:t>
            </a:r>
            <a:r>
              <a:rPr sz="1500" b="0" i="0">
                <a:solidFill>
                  <a:srgbClr val="1A1A1A"/>
                </a:solidFill>
                <a:latin typeface="Arial"/>
              </a:rPr>
              <a:t>Why IWC: its tasks come from Galaxy workflows, so they test whether workbench-native tasks behave differently from platform-neutral ones.</a:t>
            </a:r>
          </a:p>
        </p:txBody>
      </p:sp>
      <p:sp>
        <p:nvSpPr>
          <p:cNvPr id="29" name="TextBox 28"/>
          <p:cNvSpPr txBox="1"/>
          <p:nvPr/>
        </p:nvSpPr>
        <p:spPr>
          <a:xfrm>
            <a:off x="548640" y="6428232"/>
            <a:ext cx="10241280" cy="320040"/>
          </a:xfrm>
          <a:prstGeom prst="rect">
            <a:avLst/>
          </a:prstGeom>
          <a:noFill/>
        </p:spPr>
        <p:txBody>
          <a:bodyPr wrap="square" lIns="0" rIns="0" tIns="0" bIns="0" anchor="t">
            <a:spAutoFit/>
          </a:bodyPr>
          <a:lstStyle/>
          <a:p>
            <a:pPr algn="l">
              <a:lnSpc>
                <a:spcPct val="100000"/>
              </a:lnSpc>
              <a:spcAft>
                <a:spcPts val="600"/>
              </a:spcAft>
            </a:pPr>
            <a:r>
              <a:rPr sz="1000" b="0" i="0">
                <a:solidFill>
                  <a:srgbClr val="555555"/>
                </a:solidFill>
                <a:latin typeface="Arial"/>
              </a:rPr>
              <a:t>Outline P2. IWC, Intergalactic Workflow Commission.</a:t>
            </a:r>
          </a:p>
        </p:txBody>
      </p:sp>
      <p:sp>
        <p:nvSpPr>
          <p:cNvPr id="30" name="TextBox 29"/>
          <p:cNvSpPr txBox="1"/>
          <p:nvPr/>
        </p:nvSpPr>
        <p:spPr>
          <a:xfrm>
            <a:off x="11064240" y="6428232"/>
            <a:ext cx="594360" cy="274320"/>
          </a:xfrm>
          <a:prstGeom prst="rect">
            <a:avLst/>
          </a:prstGeom>
          <a:noFill/>
        </p:spPr>
        <p:txBody>
          <a:bodyPr wrap="square" lIns="0" rIns="0" tIns="0" bIns="0" anchor="t">
            <a:spAutoFit/>
          </a:bodyPr>
          <a:lstStyle/>
          <a:p>
            <a:pPr algn="r">
              <a:lnSpc>
                <a:spcPct val="110000"/>
              </a:lnSpc>
              <a:spcAft>
                <a:spcPts val="600"/>
              </a:spcAft>
            </a:pPr>
            <a:r>
              <a:rPr sz="1000" b="0" i="0">
                <a:solidFill>
                  <a:srgbClr val="555555"/>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84048"/>
            <a:ext cx="73152" cy="274320"/>
          </a:xfrm>
          <a:prstGeom prst="rect">
            <a:avLst/>
          </a:prstGeom>
          <a:solidFill>
            <a:srgbClr val="0072B2"/>
          </a:solidFill>
          <a:ln>
            <a:noFill/>
          </a:ln>
          <a:effectLst/>
        </p:spPr>
        <p:txBody>
          <a:bodyPr rtlCol="0" anchor="ctr"/>
          <a:lstStyle/>
          <a:p/>
        </p:txBody>
      </p:sp>
      <p:sp>
        <p:nvSpPr>
          <p:cNvPr id="3" name="TextBox 2"/>
          <p:cNvSpPr txBox="1"/>
          <p:nvPr/>
        </p:nvSpPr>
        <p:spPr>
          <a:xfrm>
            <a:off x="731520" y="365760"/>
            <a:ext cx="10515600" cy="320040"/>
          </a:xfrm>
          <a:prstGeom prst="rect">
            <a:avLst/>
          </a:prstGeom>
          <a:noFill/>
        </p:spPr>
        <p:txBody>
          <a:bodyPr wrap="square" lIns="0" rIns="0" tIns="0" bIns="0" anchor="t">
            <a:spAutoFit/>
          </a:bodyPr>
          <a:lstStyle/>
          <a:p>
            <a:pPr algn="l">
              <a:lnSpc>
                <a:spcPct val="110000"/>
              </a:lnSpc>
              <a:spcAft>
                <a:spcPts val="600"/>
              </a:spcAft>
            </a:pPr>
            <a:r>
              <a:rPr sz="1250" b="1" i="0">
                <a:solidFill>
                  <a:srgbClr val="555555"/>
                </a:solidFill>
                <a:latin typeface="Arial"/>
              </a:rPr>
              <a:t>RESULT 1 · ACCURACY</a:t>
            </a:r>
          </a:p>
        </p:txBody>
      </p:sp>
      <p:sp>
        <p:nvSpPr>
          <p:cNvPr id="4" name="TextBox 3"/>
          <p:cNvSpPr txBox="1"/>
          <p:nvPr/>
        </p:nvSpPr>
        <p:spPr>
          <a:xfrm>
            <a:off x="548640" y="749808"/>
            <a:ext cx="11064240" cy="1051560"/>
          </a:xfrm>
          <a:prstGeom prst="rect">
            <a:avLst/>
          </a:prstGeom>
          <a:noFill/>
        </p:spPr>
        <p:txBody>
          <a:bodyPr wrap="square" lIns="0" rIns="0" tIns="0" bIns="0" anchor="t">
            <a:spAutoFit/>
          </a:bodyPr>
          <a:lstStyle/>
          <a:p>
            <a:pPr algn="l">
              <a:lnSpc>
                <a:spcPct val="100000"/>
              </a:lnSpc>
              <a:spcAft>
                <a:spcPts val="600"/>
              </a:spcAft>
            </a:pPr>
            <a:r>
              <a:rPr sz="2500" b="1" i="0">
                <a:solidFill>
                  <a:srgbClr val="1A1A1A"/>
                </a:solidFill>
                <a:latin typeface="Arial"/>
              </a:rPr>
              <a:t>Agents can use Galaxy to accurately complete bioinformatics tasks at the same level of accuracy as custom code</a:t>
            </a:r>
          </a:p>
        </p:txBody>
      </p:sp>
      <p:pic>
        <p:nvPicPr>
          <p:cNvPr id="5" name="Picture 4" descr="deck_result1_accuracy.png"/>
          <p:cNvPicPr>
            <a:picLocks noChangeAspect="1"/>
          </p:cNvPicPr>
          <p:nvPr/>
        </p:nvPicPr>
        <p:blipFill>
          <a:blip r:embed="rId2"/>
          <a:stretch>
            <a:fillRect/>
          </a:stretch>
        </p:blipFill>
        <p:spPr>
          <a:xfrm>
            <a:off x="960120" y="1755648"/>
            <a:ext cx="10241280" cy="3954966"/>
          </a:xfrm>
          <a:prstGeom prst="rect">
            <a:avLst/>
          </a:prstGeom>
        </p:spPr>
      </p:pic>
      <p:sp>
        <p:nvSpPr>
          <p:cNvPr id="6" name="Rounded Rectangle 5"/>
          <p:cNvSpPr/>
          <p:nvPr/>
        </p:nvSpPr>
        <p:spPr>
          <a:xfrm>
            <a:off x="548640" y="5870448"/>
            <a:ext cx="11064240" cy="457200"/>
          </a:xfrm>
          <a:prstGeom prst="roundRect">
            <a:avLst>
              <a:gd name="adj" fmla="val 8000"/>
            </a:avLst>
          </a:prstGeom>
          <a:solidFill>
            <a:srgbClr val="F4F5F6"/>
          </a:solidFill>
          <a:ln>
            <a:noFill/>
          </a:ln>
          <a:effectLst/>
        </p:spPr>
        <p:txBody>
          <a:bodyPr rtlCol="0" anchor="ctr"/>
          <a:lstStyle/>
          <a:p/>
        </p:txBody>
      </p:sp>
      <p:sp>
        <p:nvSpPr>
          <p:cNvPr id="7" name="TextBox 6"/>
          <p:cNvSpPr txBox="1"/>
          <p:nvPr/>
        </p:nvSpPr>
        <p:spPr>
          <a:xfrm>
            <a:off x="777240" y="5897880"/>
            <a:ext cx="10607040" cy="411480"/>
          </a:xfrm>
          <a:prstGeom prst="rect">
            <a:avLst/>
          </a:prstGeom>
          <a:noFill/>
        </p:spPr>
        <p:txBody>
          <a:bodyPr wrap="square" lIns="0" rIns="0" tIns="0" bIns="0" anchor="ctr">
            <a:spAutoFit/>
          </a:bodyPr>
          <a:lstStyle/>
          <a:p>
            <a:pPr algn="l">
              <a:lnSpc>
                <a:spcPct val="110000"/>
              </a:lnSpc>
              <a:spcAft>
                <a:spcPts val="600"/>
              </a:spcAft>
            </a:pPr>
            <a:r>
              <a:rPr sz="1450" b="1" i="0">
                <a:solidFill>
                  <a:srgbClr val="1A1A1A"/>
                </a:solidFill>
                <a:latin typeface="Arial"/>
              </a:rPr>
              <a:t>Robust: </a:t>
            </a:r>
            <a:r>
              <a:rPr sz="1450" b="0" i="0">
                <a:solidFill>
                  <a:srgbClr val="1A1A1A"/>
                </a:solidFill>
                <a:latin typeface="Arial"/>
              </a:rPr>
              <a:t>differences stay within about one point of zero after removing tasks with audited benchmark-side problems.</a:t>
            </a:r>
          </a:p>
        </p:txBody>
      </p:sp>
      <p:sp>
        <p:nvSpPr>
          <p:cNvPr id="8" name="TextBox 7"/>
          <p:cNvSpPr txBox="1"/>
          <p:nvPr/>
        </p:nvSpPr>
        <p:spPr>
          <a:xfrm>
            <a:off x="548640" y="6428232"/>
            <a:ext cx="10241280" cy="320040"/>
          </a:xfrm>
          <a:prstGeom prst="rect">
            <a:avLst/>
          </a:prstGeom>
          <a:noFill/>
        </p:spPr>
        <p:txBody>
          <a:bodyPr wrap="square" lIns="0" rIns="0" tIns="0" bIns="0" anchor="t">
            <a:spAutoFit/>
          </a:bodyPr>
          <a:lstStyle/>
          <a:p>
            <a:pPr algn="l">
              <a:lnSpc>
                <a:spcPct val="100000"/>
              </a:lnSpc>
              <a:spcAft>
                <a:spcPts val="600"/>
              </a:spcAft>
            </a:pPr>
            <a:r>
              <a:rPr sz="1000" b="0" i="0">
                <a:solidFill>
                  <a:srgbClr val="555555"/>
                </a:solidFill>
                <a:latin typeface="Arial"/>
              </a:rPr>
              <a:t>Galaxy − custom code with 95% cluster-bootstrap intervals, by model and for all four models pooled. IWC wf_007 runs as the results site published them on 12 Oct 2026.</a:t>
            </a:r>
          </a:p>
        </p:txBody>
      </p:sp>
      <p:sp>
        <p:nvSpPr>
          <p:cNvPr id="9" name="TextBox 8"/>
          <p:cNvSpPr txBox="1"/>
          <p:nvPr/>
        </p:nvSpPr>
        <p:spPr>
          <a:xfrm>
            <a:off x="11064240" y="6428232"/>
            <a:ext cx="594360" cy="274320"/>
          </a:xfrm>
          <a:prstGeom prst="rect">
            <a:avLst/>
          </a:prstGeom>
          <a:noFill/>
        </p:spPr>
        <p:txBody>
          <a:bodyPr wrap="square" lIns="0" rIns="0" tIns="0" bIns="0" anchor="t">
            <a:spAutoFit/>
          </a:bodyPr>
          <a:lstStyle/>
          <a:p>
            <a:pPr algn="r">
              <a:lnSpc>
                <a:spcPct val="110000"/>
              </a:lnSpc>
              <a:spcAft>
                <a:spcPts val="600"/>
              </a:spcAft>
            </a:pPr>
            <a:r>
              <a:rPr sz="1000" b="0" i="0">
                <a:solidFill>
                  <a:srgbClr val="555555"/>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84048"/>
            <a:ext cx="73152" cy="274320"/>
          </a:xfrm>
          <a:prstGeom prst="rect">
            <a:avLst/>
          </a:prstGeom>
          <a:solidFill>
            <a:srgbClr val="0072B2"/>
          </a:solidFill>
          <a:ln>
            <a:noFill/>
          </a:ln>
          <a:effectLst/>
        </p:spPr>
        <p:txBody>
          <a:bodyPr rtlCol="0" anchor="ctr"/>
          <a:lstStyle/>
          <a:p/>
        </p:txBody>
      </p:sp>
      <p:sp>
        <p:nvSpPr>
          <p:cNvPr id="3" name="TextBox 2"/>
          <p:cNvSpPr txBox="1"/>
          <p:nvPr/>
        </p:nvSpPr>
        <p:spPr>
          <a:xfrm>
            <a:off x="731520" y="365760"/>
            <a:ext cx="10515600" cy="320040"/>
          </a:xfrm>
          <a:prstGeom prst="rect">
            <a:avLst/>
          </a:prstGeom>
          <a:noFill/>
        </p:spPr>
        <p:txBody>
          <a:bodyPr wrap="square" lIns="0" rIns="0" tIns="0" bIns="0" anchor="t">
            <a:spAutoFit/>
          </a:bodyPr>
          <a:lstStyle/>
          <a:p>
            <a:pPr algn="l">
              <a:lnSpc>
                <a:spcPct val="110000"/>
              </a:lnSpc>
              <a:spcAft>
                <a:spcPts val="600"/>
              </a:spcAft>
            </a:pPr>
            <a:r>
              <a:rPr sz="1250" b="1" i="0">
                <a:solidFill>
                  <a:srgbClr val="555555"/>
                </a:solidFill>
                <a:latin typeface="Arial"/>
              </a:rPr>
              <a:t>RESULT 2 · ERRORS</a:t>
            </a:r>
          </a:p>
        </p:txBody>
      </p:sp>
      <p:sp>
        <p:nvSpPr>
          <p:cNvPr id="4" name="TextBox 3"/>
          <p:cNvSpPr txBox="1"/>
          <p:nvPr/>
        </p:nvSpPr>
        <p:spPr>
          <a:xfrm>
            <a:off x="548640" y="749808"/>
            <a:ext cx="11064240" cy="1051560"/>
          </a:xfrm>
          <a:prstGeom prst="rect">
            <a:avLst/>
          </a:prstGeom>
          <a:noFill/>
        </p:spPr>
        <p:txBody>
          <a:bodyPr wrap="square" lIns="0" rIns="0" tIns="0" bIns="0" anchor="t">
            <a:spAutoFit/>
          </a:bodyPr>
          <a:lstStyle/>
          <a:p>
            <a:pPr algn="l">
              <a:lnSpc>
                <a:spcPct val="100000"/>
              </a:lnSpc>
              <a:spcAft>
                <a:spcPts val="600"/>
              </a:spcAft>
            </a:pPr>
            <a:r>
              <a:rPr sz="2500" b="1" i="0">
                <a:solidFill>
                  <a:srgbClr val="1A1A1A"/>
                </a:solidFill>
                <a:latin typeface="Arial"/>
              </a:rPr>
              <a:t>Errors come in two kinds: systematic errors come mostly from the benchmark, random errors mostly from missing validation</a:t>
            </a:r>
          </a:p>
        </p:txBody>
      </p:sp>
      <p:pic>
        <p:nvPicPr>
          <p:cNvPr id="5" name="Picture 4" descr="deck_result2_errors.png"/>
          <p:cNvPicPr>
            <a:picLocks noChangeAspect="1"/>
          </p:cNvPicPr>
          <p:nvPr/>
        </p:nvPicPr>
        <p:blipFill>
          <a:blip r:embed="rId2"/>
          <a:stretch>
            <a:fillRect/>
          </a:stretch>
        </p:blipFill>
        <p:spPr>
          <a:xfrm>
            <a:off x="411480" y="1783080"/>
            <a:ext cx="6995160" cy="4058920"/>
          </a:xfrm>
          <a:prstGeom prst="rect">
            <a:avLst/>
          </a:prstGeom>
        </p:spPr>
      </p:pic>
      <p:sp>
        <p:nvSpPr>
          <p:cNvPr id="6" name="Rounded Rectangle 5"/>
          <p:cNvSpPr/>
          <p:nvPr/>
        </p:nvSpPr>
        <p:spPr>
          <a:xfrm>
            <a:off x="7635240" y="1828800"/>
            <a:ext cx="3977639" cy="1874519"/>
          </a:xfrm>
          <a:prstGeom prst="roundRect">
            <a:avLst>
              <a:gd name="adj" fmla="val 8000"/>
            </a:avLst>
          </a:prstGeom>
          <a:solidFill>
            <a:srgbClr val="F4F5F6"/>
          </a:solidFill>
          <a:ln>
            <a:noFill/>
          </a:ln>
          <a:effectLst/>
        </p:spPr>
        <p:txBody>
          <a:bodyPr rtlCol="0" anchor="ctr"/>
          <a:lstStyle/>
          <a:p/>
        </p:txBody>
      </p:sp>
      <p:sp>
        <p:nvSpPr>
          <p:cNvPr id="7" name="TextBox 6"/>
          <p:cNvSpPr txBox="1"/>
          <p:nvPr/>
        </p:nvSpPr>
        <p:spPr>
          <a:xfrm>
            <a:off x="7863840" y="1938528"/>
            <a:ext cx="3566160" cy="320040"/>
          </a:xfrm>
          <a:prstGeom prst="rect">
            <a:avLst/>
          </a:prstGeom>
          <a:noFill/>
        </p:spPr>
        <p:txBody>
          <a:bodyPr wrap="square" lIns="0" rIns="0" tIns="0" bIns="0" anchor="t">
            <a:spAutoFit/>
          </a:bodyPr>
          <a:lstStyle/>
          <a:p>
            <a:pPr algn="l">
              <a:lnSpc>
                <a:spcPct val="110000"/>
              </a:lnSpc>
              <a:spcAft>
                <a:spcPts val="600"/>
              </a:spcAft>
            </a:pPr>
            <a:r>
              <a:rPr sz="1650" b="1" i="0">
                <a:solidFill>
                  <a:srgbClr val="1A1A1A"/>
                </a:solidFill>
                <a:latin typeface="Arial"/>
              </a:rPr>
              <a:t>Systematic</a:t>
            </a:r>
          </a:p>
        </p:txBody>
      </p:sp>
      <p:sp>
        <p:nvSpPr>
          <p:cNvPr id="8" name="TextBox 7"/>
          <p:cNvSpPr txBox="1"/>
          <p:nvPr/>
        </p:nvSpPr>
        <p:spPr>
          <a:xfrm>
            <a:off x="7863840" y="2267712"/>
            <a:ext cx="3566160" cy="1417320"/>
          </a:xfrm>
          <a:prstGeom prst="rect">
            <a:avLst/>
          </a:prstGeom>
          <a:noFill/>
        </p:spPr>
        <p:txBody>
          <a:bodyPr wrap="square" lIns="0" rIns="0" tIns="0" bIns="0" anchor="t">
            <a:spAutoFit/>
          </a:bodyPr>
          <a:lstStyle/>
          <a:p>
            <a:pPr algn="l">
              <a:lnSpc>
                <a:spcPct val="105000"/>
              </a:lnSpc>
              <a:spcAft>
                <a:spcPts val="600"/>
              </a:spcAft>
            </a:pPr>
            <a:r>
              <a:rPr sz="1300" b="0" i="0">
                <a:solidFill>
                  <a:srgbClr val="555555"/>
                </a:solidFill>
                <a:latin typeface="Arial"/>
              </a:rPr>
              <a:t>Repeat in every replicate. 85 of the 94 benchmark-specification errors sit in replicate groups where all three runs were wrong, which usually give the same wrong answer: the task or the answer key, not chance.</a:t>
            </a:r>
          </a:p>
        </p:txBody>
      </p:sp>
      <p:sp>
        <p:nvSpPr>
          <p:cNvPr id="9" name="Rounded Rectangle 8"/>
          <p:cNvSpPr/>
          <p:nvPr/>
        </p:nvSpPr>
        <p:spPr>
          <a:xfrm>
            <a:off x="7635240" y="3840480"/>
            <a:ext cx="3977639" cy="1874519"/>
          </a:xfrm>
          <a:prstGeom prst="roundRect">
            <a:avLst>
              <a:gd name="adj" fmla="val 8000"/>
            </a:avLst>
          </a:prstGeom>
          <a:solidFill>
            <a:srgbClr val="F4F5F6"/>
          </a:solidFill>
          <a:ln>
            <a:noFill/>
          </a:ln>
          <a:effectLst/>
        </p:spPr>
        <p:txBody>
          <a:bodyPr rtlCol="0" anchor="ctr"/>
          <a:lstStyle/>
          <a:p/>
        </p:txBody>
      </p:sp>
      <p:sp>
        <p:nvSpPr>
          <p:cNvPr id="10" name="TextBox 9"/>
          <p:cNvSpPr txBox="1"/>
          <p:nvPr/>
        </p:nvSpPr>
        <p:spPr>
          <a:xfrm>
            <a:off x="7863840" y="3950208"/>
            <a:ext cx="3566160" cy="320040"/>
          </a:xfrm>
          <a:prstGeom prst="rect">
            <a:avLst/>
          </a:prstGeom>
          <a:noFill/>
        </p:spPr>
        <p:txBody>
          <a:bodyPr wrap="square" lIns="0" rIns="0" tIns="0" bIns="0" anchor="t">
            <a:spAutoFit/>
          </a:bodyPr>
          <a:lstStyle/>
          <a:p>
            <a:pPr algn="l">
              <a:lnSpc>
                <a:spcPct val="110000"/>
              </a:lnSpc>
              <a:spcAft>
                <a:spcPts val="600"/>
              </a:spcAft>
            </a:pPr>
            <a:r>
              <a:rPr sz="1650" b="1" i="0">
                <a:solidFill>
                  <a:srgbClr val="1A1A1A"/>
                </a:solidFill>
                <a:latin typeface="Arial"/>
              </a:rPr>
              <a:t>Random</a:t>
            </a:r>
          </a:p>
        </p:txBody>
      </p:sp>
      <p:sp>
        <p:nvSpPr>
          <p:cNvPr id="11" name="TextBox 10"/>
          <p:cNvSpPr txBox="1"/>
          <p:nvPr/>
        </p:nvSpPr>
        <p:spPr>
          <a:xfrm>
            <a:off x="7863840" y="4279392"/>
            <a:ext cx="3566160" cy="1417320"/>
          </a:xfrm>
          <a:prstGeom prst="rect">
            <a:avLst/>
          </a:prstGeom>
          <a:noFill/>
        </p:spPr>
        <p:txBody>
          <a:bodyPr wrap="square" lIns="0" rIns="0" tIns="0" bIns="0" anchor="t">
            <a:spAutoFit/>
          </a:bodyPr>
          <a:lstStyle/>
          <a:p>
            <a:pPr algn="l">
              <a:lnSpc>
                <a:spcPct val="105000"/>
              </a:lnSpc>
              <a:spcAft>
                <a:spcPts val="600"/>
              </a:spcAft>
            </a:pPr>
            <a:r>
              <a:rPr sz="1300" b="0" i="0">
                <a:solidFill>
                  <a:srgbClr val="555555"/>
                </a:solidFill>
                <a:latin typeface="Arial"/>
              </a:rPr>
              <a:t>Differ between replicates. Missing validation is spread out: 16 of its 32 errors are in groups where the other two were correct. bix-30-q3: failed custom-code runs added exclusions, normalization and a test the task did not ask for.</a:t>
            </a:r>
          </a:p>
        </p:txBody>
      </p:sp>
      <p:sp>
        <p:nvSpPr>
          <p:cNvPr id="12" name="TextBox 11"/>
          <p:cNvSpPr txBox="1"/>
          <p:nvPr/>
        </p:nvSpPr>
        <p:spPr>
          <a:xfrm>
            <a:off x="548640" y="5870448"/>
            <a:ext cx="11064240" cy="502920"/>
          </a:xfrm>
          <a:prstGeom prst="rect">
            <a:avLst/>
          </a:prstGeom>
          <a:noFill/>
        </p:spPr>
        <p:txBody>
          <a:bodyPr wrap="square" lIns="0" rIns="0" tIns="0" bIns="0" anchor="t">
            <a:spAutoFit/>
          </a:bodyPr>
          <a:lstStyle/>
          <a:p>
            <a:pPr algn="l">
              <a:lnSpc>
                <a:spcPct val="110000"/>
              </a:lnSpc>
              <a:spcAft>
                <a:spcPts val="600"/>
              </a:spcAft>
            </a:pPr>
            <a:r>
              <a:rPr sz="1400" b="1" i="0">
                <a:solidFill>
                  <a:srgbClr val="1A1A1A"/>
                </a:solidFill>
                <a:latin typeface="Arial"/>
              </a:rPr>
              <a:t>Most wrong answers are not runs that broke: </a:t>
            </a:r>
            <a:r>
              <a:rPr sz="1400" b="0" i="0">
                <a:solidFill>
                  <a:srgbClr val="1A1A1A"/>
                </a:solidFill>
                <a:latin typeface="Arial"/>
              </a:rPr>
              <a:t>69–94% of correct runs also hit an execution error and recovered; wrong runs finished and reported the wrong thing.</a:t>
            </a:r>
          </a:p>
        </p:txBody>
      </p:sp>
      <p:sp>
        <p:nvSpPr>
          <p:cNvPr id="13" name="TextBox 12"/>
          <p:cNvSpPr txBox="1"/>
          <p:nvPr/>
        </p:nvSpPr>
        <p:spPr>
          <a:xfrm>
            <a:off x="548640" y="6428232"/>
            <a:ext cx="10241280" cy="320040"/>
          </a:xfrm>
          <a:prstGeom prst="rect">
            <a:avLst/>
          </a:prstGeom>
          <a:noFill/>
        </p:spPr>
        <p:txBody>
          <a:bodyPr wrap="square" lIns="0" rIns="0" tIns="0" bIns="0" anchor="t">
            <a:spAutoFit/>
          </a:bodyPr>
          <a:lstStyle/>
          <a:p>
            <a:pPr algn="l">
              <a:lnSpc>
                <a:spcPct val="100000"/>
              </a:lnSpc>
              <a:spcAft>
                <a:spcPts val="600"/>
              </a:spcAft>
            </a:pPr>
            <a:r>
              <a:rPr sz="1000" b="0" i="0">
                <a:solidFill>
                  <a:srgbClr val="555555"/>
                </a:solidFill>
                <a:latin typeface="Arial"/>
              </a:rPr>
              <a:t>BixBench-Verified-50: 151 incorrect runs, causes from execution traces; 71% from the benchmark, 25% agent errors, 3 from Galaxy, 4 without an answer.</a:t>
            </a:r>
          </a:p>
        </p:txBody>
      </p:sp>
      <p:sp>
        <p:nvSpPr>
          <p:cNvPr id="14" name="TextBox 13"/>
          <p:cNvSpPr txBox="1"/>
          <p:nvPr/>
        </p:nvSpPr>
        <p:spPr>
          <a:xfrm>
            <a:off x="11064240" y="6428232"/>
            <a:ext cx="594360" cy="274320"/>
          </a:xfrm>
          <a:prstGeom prst="rect">
            <a:avLst/>
          </a:prstGeom>
          <a:noFill/>
        </p:spPr>
        <p:txBody>
          <a:bodyPr wrap="square" lIns="0" rIns="0" tIns="0" bIns="0" anchor="t">
            <a:spAutoFit/>
          </a:bodyPr>
          <a:lstStyle/>
          <a:p>
            <a:pPr algn="r">
              <a:lnSpc>
                <a:spcPct val="110000"/>
              </a:lnSpc>
              <a:spcAft>
                <a:spcPts val="600"/>
              </a:spcAft>
            </a:pPr>
            <a:r>
              <a:rPr sz="1000" b="0" i="0">
                <a:solidFill>
                  <a:srgbClr val="555555"/>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84048"/>
            <a:ext cx="73152" cy="274320"/>
          </a:xfrm>
          <a:prstGeom prst="rect">
            <a:avLst/>
          </a:prstGeom>
          <a:solidFill>
            <a:srgbClr val="0072B2"/>
          </a:solidFill>
          <a:ln>
            <a:noFill/>
          </a:ln>
          <a:effectLst/>
        </p:spPr>
        <p:txBody>
          <a:bodyPr rtlCol="0" anchor="ctr"/>
          <a:lstStyle/>
          <a:p/>
        </p:txBody>
      </p:sp>
      <p:sp>
        <p:nvSpPr>
          <p:cNvPr id="3" name="TextBox 2"/>
          <p:cNvSpPr txBox="1"/>
          <p:nvPr/>
        </p:nvSpPr>
        <p:spPr>
          <a:xfrm>
            <a:off x="731520" y="365760"/>
            <a:ext cx="10515600" cy="320040"/>
          </a:xfrm>
          <a:prstGeom prst="rect">
            <a:avLst/>
          </a:prstGeom>
          <a:noFill/>
        </p:spPr>
        <p:txBody>
          <a:bodyPr wrap="square" lIns="0" rIns="0" tIns="0" bIns="0" anchor="t">
            <a:spAutoFit/>
          </a:bodyPr>
          <a:lstStyle/>
          <a:p>
            <a:pPr algn="l">
              <a:lnSpc>
                <a:spcPct val="110000"/>
              </a:lnSpc>
              <a:spcAft>
                <a:spcPts val="600"/>
              </a:spcAft>
            </a:pPr>
            <a:r>
              <a:rPr sz="1250" b="1" i="0">
                <a:solidFill>
                  <a:srgbClr val="555555"/>
                </a:solidFill>
                <a:latin typeface="Arial"/>
              </a:rPr>
              <a:t>RESULT 3 · CONSENSUS</a:t>
            </a:r>
          </a:p>
        </p:txBody>
      </p:sp>
      <p:sp>
        <p:nvSpPr>
          <p:cNvPr id="4" name="TextBox 3"/>
          <p:cNvSpPr txBox="1"/>
          <p:nvPr/>
        </p:nvSpPr>
        <p:spPr>
          <a:xfrm>
            <a:off x="548640" y="749808"/>
            <a:ext cx="11064240" cy="1051560"/>
          </a:xfrm>
          <a:prstGeom prst="rect">
            <a:avLst/>
          </a:prstGeom>
          <a:noFill/>
        </p:spPr>
        <p:txBody>
          <a:bodyPr wrap="square" lIns="0" rIns="0" tIns="0" bIns="0" anchor="t">
            <a:spAutoFit/>
          </a:bodyPr>
          <a:lstStyle/>
          <a:p>
            <a:pPr algn="l">
              <a:lnSpc>
                <a:spcPct val="100000"/>
              </a:lnSpc>
              <a:spcAft>
                <a:spcPts val="600"/>
              </a:spcAft>
            </a:pPr>
            <a:r>
              <a:rPr sz="2600" b="1" i="0">
                <a:solidFill>
                  <a:srgbClr val="1A1A1A"/>
                </a:solidFill>
                <a:latin typeface="Arial"/>
              </a:rPr>
              <a:t>Consensus helps a little; a validation step that picks the correct replicate would help more</a:t>
            </a:r>
          </a:p>
        </p:txBody>
      </p:sp>
      <p:pic>
        <p:nvPicPr>
          <p:cNvPr id="5" name="Picture 4" descr="deck_result3_consensus.png"/>
          <p:cNvPicPr>
            <a:picLocks noChangeAspect="1"/>
          </p:cNvPicPr>
          <p:nvPr/>
        </p:nvPicPr>
        <p:blipFill>
          <a:blip r:embed="rId2"/>
          <a:stretch>
            <a:fillRect/>
          </a:stretch>
        </p:blipFill>
        <p:spPr>
          <a:xfrm>
            <a:off x="411480" y="1755648"/>
            <a:ext cx="6858000" cy="4007386"/>
          </a:xfrm>
          <a:prstGeom prst="rect">
            <a:avLst/>
          </a:prstGeom>
        </p:spPr>
      </p:pic>
      <p:sp>
        <p:nvSpPr>
          <p:cNvPr id="6" name="TextBox 5"/>
          <p:cNvSpPr txBox="1"/>
          <p:nvPr/>
        </p:nvSpPr>
        <p:spPr>
          <a:xfrm>
            <a:off x="7726679" y="1874519"/>
            <a:ext cx="3931920" cy="3931920"/>
          </a:xfrm>
          <a:prstGeom prst="rect">
            <a:avLst/>
          </a:prstGeom>
          <a:noFill/>
        </p:spPr>
        <p:txBody>
          <a:bodyPr wrap="square" lIns="0" rIns="0" tIns="0" bIns="0" anchor="t">
            <a:spAutoFit/>
          </a:bodyPr>
          <a:lstStyle/>
          <a:p>
            <a:pPr algn="l" marL="219456" indent="-219456">
              <a:lnSpc>
                <a:spcPct val="110000"/>
              </a:lnSpc>
              <a:spcAft>
                <a:spcPts val="1200"/>
              </a:spcAft>
            </a:pPr>
            <a:r>
              <a:rPr sz="1400" b="1" i="0">
                <a:solidFill>
                  <a:srgbClr val="8A8A8A"/>
                </a:solidFill>
                <a:latin typeface="Arial"/>
              </a:rPr>
              <a:t>•  </a:t>
            </a:r>
            <a:r>
              <a:rPr sz="1400" b="1" i="0">
                <a:solidFill>
                  <a:srgbClr val="1A1A1A"/>
                </a:solidFill>
                <a:latin typeface="Arial"/>
              </a:rPr>
              <a:t>A majority vote </a:t>
            </a:r>
            <a:r>
              <a:rPr sz="1400" b="0" i="0">
                <a:solidFill>
                  <a:srgbClr val="1A1A1A"/>
                </a:solidFill>
                <a:latin typeface="Arial"/>
              </a:rPr>
              <a:t>over three replicates adds 0.3 to 2.3 points (BixBench-Verified-50, CompBioBench).</a:t>
            </a:r>
          </a:p>
          <a:p>
            <a:pPr algn="l" marL="219456" indent="-219456">
              <a:lnSpc>
                <a:spcPct val="110000"/>
              </a:lnSpc>
              <a:spcAft>
                <a:spcPts val="1200"/>
              </a:spcAft>
            </a:pPr>
            <a:r>
              <a:rPr sz="1400" b="1" i="0">
                <a:solidFill>
                  <a:srgbClr val="8A8A8A"/>
                </a:solidFill>
                <a:latin typeface="Arial"/>
              </a:rPr>
              <a:t>•  </a:t>
            </a:r>
            <a:r>
              <a:rPr sz="1400" b="1" i="0">
                <a:solidFill>
                  <a:srgbClr val="1A1A1A"/>
                </a:solidFill>
                <a:latin typeface="Arial"/>
              </a:rPr>
              <a:t>At least one replicate was correct </a:t>
            </a:r>
            <a:r>
              <a:rPr sz="1400" b="0" i="0">
                <a:solidFill>
                  <a:srgbClr val="1A1A1A"/>
                </a:solidFill>
                <a:latin typeface="Arial"/>
              </a:rPr>
              <a:t>in 85–94% of replicate groups: most of the room left is a correct answer produced but not chosen.</a:t>
            </a:r>
          </a:p>
          <a:p>
            <a:pPr algn="l" marL="219456" indent="-219456">
              <a:lnSpc>
                <a:spcPct val="110000"/>
              </a:lnSpc>
              <a:spcAft>
                <a:spcPts val="1200"/>
              </a:spcAft>
            </a:pPr>
            <a:r>
              <a:rPr sz="1400" b="1" i="0">
                <a:solidFill>
                  <a:srgbClr val="8A8A8A"/>
                </a:solidFill>
                <a:latin typeface="Arial"/>
              </a:rPr>
              <a:t>•  </a:t>
            </a:r>
            <a:r>
              <a:rPr sz="1400" b="1" i="0">
                <a:solidFill>
                  <a:srgbClr val="1A1A1A"/>
                </a:solidFill>
                <a:latin typeface="Arial"/>
              </a:rPr>
              <a:t>Disagreement flags answers to check </a:t>
            </a:r>
            <a:r>
              <a:rPr sz="1400" b="0" i="0">
                <a:solidFill>
                  <a:srgbClr val="1A1A1A"/>
                </a:solidFill>
                <a:latin typeface="Arial"/>
              </a:rPr>
              <a:t>without the true answer: replicates split on 8–10% (BixBench), 15–17% (CompBioBench) and 10–20% (IWC) of groups.</a:t>
            </a:r>
          </a:p>
          <a:p>
            <a:pPr algn="l" marL="219456" indent="-219456">
              <a:lnSpc>
                <a:spcPct val="110000"/>
              </a:lnSpc>
              <a:spcAft>
                <a:spcPts val="1200"/>
              </a:spcAft>
            </a:pPr>
            <a:r>
              <a:rPr sz="1400" b="1" i="0">
                <a:solidFill>
                  <a:srgbClr val="8A8A8A"/>
                </a:solidFill>
                <a:latin typeface="Arial"/>
              </a:rPr>
              <a:t>•  </a:t>
            </a:r>
            <a:r>
              <a:rPr sz="1400" b="1" i="0">
                <a:solidFill>
                  <a:srgbClr val="1A1A1A"/>
                </a:solidFill>
                <a:latin typeface="Arial"/>
              </a:rPr>
              <a:t>Galaxy runs are more consistent, </a:t>
            </a:r>
            <a:r>
              <a:rPr sz="1400" b="0" i="0">
                <a:solidFill>
                  <a:srgbClr val="1A1A1A"/>
                </a:solidFill>
                <a:latin typeface="Arial"/>
              </a:rPr>
              <a:t>which cuts both ways: voting gains 0.3 points in Galaxy against 2.3 with custom code.</a:t>
            </a:r>
          </a:p>
        </p:txBody>
      </p:sp>
      <p:sp>
        <p:nvSpPr>
          <p:cNvPr id="7" name="Rounded Rectangle 6"/>
          <p:cNvSpPr/>
          <p:nvPr/>
        </p:nvSpPr>
        <p:spPr>
          <a:xfrm>
            <a:off x="548640" y="5870448"/>
            <a:ext cx="11064240" cy="457200"/>
          </a:xfrm>
          <a:prstGeom prst="roundRect">
            <a:avLst>
              <a:gd name="adj" fmla="val 8000"/>
            </a:avLst>
          </a:prstGeom>
          <a:solidFill>
            <a:srgbClr val="F4F5F6"/>
          </a:solidFill>
          <a:ln>
            <a:noFill/>
          </a:ln>
          <a:effectLst/>
        </p:spPr>
        <p:txBody>
          <a:bodyPr rtlCol="0" anchor="ctr"/>
          <a:lstStyle/>
          <a:p/>
        </p:txBody>
      </p:sp>
      <p:sp>
        <p:nvSpPr>
          <p:cNvPr id="8" name="TextBox 7"/>
          <p:cNvSpPr txBox="1"/>
          <p:nvPr/>
        </p:nvSpPr>
        <p:spPr>
          <a:xfrm>
            <a:off x="777240" y="5897880"/>
            <a:ext cx="10607040" cy="411480"/>
          </a:xfrm>
          <a:prstGeom prst="rect">
            <a:avLst/>
          </a:prstGeom>
          <a:noFill/>
        </p:spPr>
        <p:txBody>
          <a:bodyPr wrap="square" lIns="0" rIns="0" tIns="0" bIns="0" anchor="ctr">
            <a:spAutoFit/>
          </a:bodyPr>
          <a:lstStyle/>
          <a:p>
            <a:pPr algn="l">
              <a:lnSpc>
                <a:spcPct val="110000"/>
              </a:lnSpc>
              <a:spcAft>
                <a:spcPts val="600"/>
              </a:spcAft>
            </a:pPr>
            <a:r>
              <a:rPr sz="1400" b="1" i="0">
                <a:solidFill>
                  <a:srgbClr val="1A1A1A"/>
                </a:solidFill>
                <a:latin typeface="Arial"/>
              </a:rPr>
              <a:t>Consistent wrong answers need fixes in the tools, not votes: </a:t>
            </a:r>
            <a:r>
              <a:rPr sz="1400" b="0" i="0">
                <a:solidFill>
                  <a:srgbClr val="1A1A1A"/>
                </a:solidFill>
                <a:latin typeface="Arial"/>
              </a:rPr>
              <a:t>bix-45-q1 failed in all 12 Galaxy runs because of the PhyKIT version (custom code 8/12).</a:t>
            </a:r>
          </a:p>
        </p:txBody>
      </p:sp>
      <p:sp>
        <p:nvSpPr>
          <p:cNvPr id="9" name="TextBox 8"/>
          <p:cNvSpPr txBox="1"/>
          <p:nvPr/>
        </p:nvSpPr>
        <p:spPr>
          <a:xfrm>
            <a:off x="548640" y="6428232"/>
            <a:ext cx="10241280" cy="320040"/>
          </a:xfrm>
          <a:prstGeom prst="rect">
            <a:avLst/>
          </a:prstGeom>
          <a:noFill/>
        </p:spPr>
        <p:txBody>
          <a:bodyPr wrap="square" lIns="0" rIns="0" tIns="0" bIns="0" anchor="t">
            <a:spAutoFit/>
          </a:bodyPr>
          <a:lstStyle/>
          <a:p>
            <a:pPr algn="l">
              <a:lnSpc>
                <a:spcPct val="100000"/>
              </a:lnSpc>
              <a:spcAft>
                <a:spcPts val="600"/>
              </a:spcAft>
            </a:pPr>
            <a:r>
              <a:rPr sz="1000" b="0" i="0">
                <a:solidFill>
                  <a:srgbClr val="555555"/>
                </a:solidFill>
                <a:latin typeface="Arial"/>
              </a:rPr>
              <a:t>Estimates from the existing runs; no consensus strategy was run. Votes from correctness; IWC correct at agreement ≥ 0.99.</a:t>
            </a:r>
          </a:p>
        </p:txBody>
      </p:sp>
      <p:sp>
        <p:nvSpPr>
          <p:cNvPr id="10" name="TextBox 9"/>
          <p:cNvSpPr txBox="1"/>
          <p:nvPr/>
        </p:nvSpPr>
        <p:spPr>
          <a:xfrm>
            <a:off x="11064240" y="6428232"/>
            <a:ext cx="594360" cy="274320"/>
          </a:xfrm>
          <a:prstGeom prst="rect">
            <a:avLst/>
          </a:prstGeom>
          <a:noFill/>
        </p:spPr>
        <p:txBody>
          <a:bodyPr wrap="square" lIns="0" rIns="0" tIns="0" bIns="0" anchor="t">
            <a:spAutoFit/>
          </a:bodyPr>
          <a:lstStyle/>
          <a:p>
            <a:pPr algn="r">
              <a:lnSpc>
                <a:spcPct val="110000"/>
              </a:lnSpc>
              <a:spcAft>
                <a:spcPts val="600"/>
              </a:spcAft>
            </a:pPr>
            <a:r>
              <a:rPr sz="1000" b="0" i="0">
                <a:solidFill>
                  <a:srgbClr val="555555"/>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84048"/>
            <a:ext cx="73152" cy="274320"/>
          </a:xfrm>
          <a:prstGeom prst="rect">
            <a:avLst/>
          </a:prstGeom>
          <a:solidFill>
            <a:srgbClr val="0072B2"/>
          </a:solidFill>
          <a:ln>
            <a:noFill/>
          </a:ln>
          <a:effectLst/>
        </p:spPr>
        <p:txBody>
          <a:bodyPr rtlCol="0" anchor="ctr"/>
          <a:lstStyle/>
          <a:p/>
        </p:txBody>
      </p:sp>
      <p:sp>
        <p:nvSpPr>
          <p:cNvPr id="3" name="TextBox 2"/>
          <p:cNvSpPr txBox="1"/>
          <p:nvPr/>
        </p:nvSpPr>
        <p:spPr>
          <a:xfrm>
            <a:off x="731520" y="365760"/>
            <a:ext cx="10515600" cy="320040"/>
          </a:xfrm>
          <a:prstGeom prst="rect">
            <a:avLst/>
          </a:prstGeom>
          <a:noFill/>
        </p:spPr>
        <p:txBody>
          <a:bodyPr wrap="square" lIns="0" rIns="0" tIns="0" bIns="0" anchor="t">
            <a:spAutoFit/>
          </a:bodyPr>
          <a:lstStyle/>
          <a:p>
            <a:pPr algn="l">
              <a:lnSpc>
                <a:spcPct val="110000"/>
              </a:lnSpc>
              <a:spcAft>
                <a:spcPts val="600"/>
              </a:spcAft>
            </a:pPr>
            <a:r>
              <a:rPr sz="1250" b="1" i="0">
                <a:solidFill>
                  <a:srgbClr val="555555"/>
                </a:solidFill>
                <a:latin typeface="Arial"/>
              </a:rPr>
              <a:t>RESULT 4 · WHAT GALAXY ADDS AND WHAT IT COSTS</a:t>
            </a:r>
          </a:p>
        </p:txBody>
      </p:sp>
      <p:sp>
        <p:nvSpPr>
          <p:cNvPr id="4" name="TextBox 3"/>
          <p:cNvSpPr txBox="1"/>
          <p:nvPr/>
        </p:nvSpPr>
        <p:spPr>
          <a:xfrm>
            <a:off x="548640" y="749808"/>
            <a:ext cx="11064240" cy="1051560"/>
          </a:xfrm>
          <a:prstGeom prst="rect">
            <a:avLst/>
          </a:prstGeom>
          <a:noFill/>
        </p:spPr>
        <p:txBody>
          <a:bodyPr wrap="square" lIns="0" rIns="0" tIns="0" bIns="0" anchor="t">
            <a:spAutoFit/>
          </a:bodyPr>
          <a:lstStyle/>
          <a:p>
            <a:pPr algn="l">
              <a:lnSpc>
                <a:spcPct val="100000"/>
              </a:lnSpc>
              <a:spcAft>
                <a:spcPts val="600"/>
              </a:spcAft>
            </a:pPr>
            <a:r>
              <a:rPr sz="2500" b="1" i="0">
                <a:solidFill>
                  <a:srgbClr val="1A1A1A"/>
                </a:solidFill>
                <a:latin typeface="Arial"/>
              </a:rPr>
              <a:t>Agent traces showed where Galaxy's tokens went; interface fixes cut its cost from about 20× to 1.53× custom code</a:t>
            </a:r>
          </a:p>
        </p:txBody>
      </p:sp>
      <p:sp>
        <p:nvSpPr>
          <p:cNvPr id="5" name="Rounded Rectangle 4"/>
          <p:cNvSpPr/>
          <p:nvPr/>
        </p:nvSpPr>
        <p:spPr>
          <a:xfrm>
            <a:off x="548640" y="1828800"/>
            <a:ext cx="4206240" cy="2788920"/>
          </a:xfrm>
          <a:prstGeom prst="roundRect">
            <a:avLst>
              <a:gd name="adj" fmla="val 8000"/>
            </a:avLst>
          </a:prstGeom>
          <a:solidFill>
            <a:srgbClr val="FFFFFF"/>
          </a:solidFill>
          <a:ln w="19050">
            <a:solidFill>
              <a:srgbClr val="0072B2"/>
            </a:solidFill>
          </a:ln>
          <a:effectLst/>
        </p:spPr>
        <p:txBody>
          <a:bodyPr rtlCol="0" anchor="ctr"/>
          <a:lstStyle/>
          <a:p/>
        </p:txBody>
      </p:sp>
      <p:sp>
        <p:nvSpPr>
          <p:cNvPr id="6" name="TextBox 5"/>
          <p:cNvSpPr txBox="1"/>
          <p:nvPr/>
        </p:nvSpPr>
        <p:spPr>
          <a:xfrm>
            <a:off x="749808" y="1920240"/>
            <a:ext cx="3840480" cy="320040"/>
          </a:xfrm>
          <a:prstGeom prst="rect">
            <a:avLst/>
          </a:prstGeom>
          <a:noFill/>
        </p:spPr>
        <p:txBody>
          <a:bodyPr wrap="square" lIns="0" rIns="0" tIns="0" bIns="0" anchor="t">
            <a:spAutoFit/>
          </a:bodyPr>
          <a:lstStyle/>
          <a:p>
            <a:pPr algn="l">
              <a:lnSpc>
                <a:spcPct val="110000"/>
              </a:lnSpc>
              <a:spcAft>
                <a:spcPts val="600"/>
              </a:spcAft>
            </a:pPr>
            <a:r>
              <a:rPr sz="1500" b="1" i="0">
                <a:solidFill>
                  <a:srgbClr val="0072B2"/>
                </a:solidFill>
                <a:latin typeface="Arial"/>
              </a:rPr>
              <a:t>What Galaxy adds: a structured record</a:t>
            </a:r>
          </a:p>
        </p:txBody>
      </p:sp>
      <p:sp>
        <p:nvSpPr>
          <p:cNvPr id="7" name="TextBox 6"/>
          <p:cNvSpPr txBox="1"/>
          <p:nvPr/>
        </p:nvSpPr>
        <p:spPr>
          <a:xfrm>
            <a:off x="749808" y="2240280"/>
            <a:ext cx="3840480" cy="274320"/>
          </a:xfrm>
          <a:prstGeom prst="rect">
            <a:avLst/>
          </a:prstGeom>
          <a:noFill/>
        </p:spPr>
        <p:txBody>
          <a:bodyPr wrap="square" lIns="0" rIns="0" tIns="0" bIns="0" anchor="t">
            <a:spAutoFit/>
          </a:bodyPr>
          <a:lstStyle/>
          <a:p>
            <a:pPr algn="l">
              <a:lnSpc>
                <a:spcPct val="110000"/>
              </a:lnSpc>
              <a:spcAft>
                <a:spcPts val="600"/>
              </a:spcAft>
            </a:pPr>
            <a:r>
              <a:rPr sz="1150" b="0" i="0">
                <a:solidFill>
                  <a:srgbClr val="555555"/>
                </a:solidFill>
                <a:latin typeface="Arial"/>
              </a:rPr>
              <a:t>One Galaxy run (bix-45-q1, GPT-5.6 Sol, replicate 1)</a:t>
            </a:r>
          </a:p>
        </p:txBody>
      </p:sp>
      <p:sp>
        <p:nvSpPr>
          <p:cNvPr id="8" name="Rounded Rectangle 7"/>
          <p:cNvSpPr/>
          <p:nvPr/>
        </p:nvSpPr>
        <p:spPr>
          <a:xfrm>
            <a:off x="749808" y="2606040"/>
            <a:ext cx="3822191" cy="548640"/>
          </a:xfrm>
          <a:prstGeom prst="roundRect">
            <a:avLst>
              <a:gd name="adj" fmla="val 8000"/>
            </a:avLst>
          </a:prstGeom>
          <a:solidFill>
            <a:srgbClr val="E5F1F8"/>
          </a:solidFill>
          <a:ln>
            <a:noFill/>
          </a:ln>
          <a:effectLst/>
        </p:spPr>
        <p:txBody>
          <a:bodyPr rtlCol="0" anchor="ctr"/>
          <a:lstStyle/>
          <a:p/>
        </p:txBody>
      </p:sp>
      <p:sp>
        <p:nvSpPr>
          <p:cNvPr id="9" name="TextBox 8"/>
          <p:cNvSpPr txBox="1"/>
          <p:nvPr/>
        </p:nvSpPr>
        <p:spPr>
          <a:xfrm>
            <a:off x="896112" y="2651760"/>
            <a:ext cx="3017520" cy="256032"/>
          </a:xfrm>
          <a:prstGeom prst="rect">
            <a:avLst/>
          </a:prstGeom>
          <a:noFill/>
        </p:spPr>
        <p:txBody>
          <a:bodyPr wrap="square" lIns="0" rIns="0" tIns="0" bIns="0" anchor="t">
            <a:spAutoFit/>
          </a:bodyPr>
          <a:lstStyle/>
          <a:p>
            <a:pPr algn="l">
              <a:lnSpc>
                <a:spcPct val="110000"/>
              </a:lnSpc>
              <a:spcAft>
                <a:spcPts val="600"/>
              </a:spcAft>
            </a:pPr>
            <a:r>
              <a:rPr sz="1200" b="1" i="0">
                <a:solidFill>
                  <a:srgbClr val="1A1A1A"/>
                </a:solidFill>
                <a:latin typeface="Arial"/>
              </a:rPr>
              <a:t>PhyKIT metrics 0.2.0+galaxy0</a:t>
            </a:r>
          </a:p>
        </p:txBody>
      </p:sp>
      <p:sp>
        <p:nvSpPr>
          <p:cNvPr id="10" name="TextBox 9"/>
          <p:cNvSpPr txBox="1"/>
          <p:nvPr/>
        </p:nvSpPr>
        <p:spPr>
          <a:xfrm>
            <a:off x="896112" y="2880360"/>
            <a:ext cx="3566160" cy="256032"/>
          </a:xfrm>
          <a:prstGeom prst="rect">
            <a:avLst/>
          </a:prstGeom>
          <a:noFill/>
        </p:spPr>
        <p:txBody>
          <a:bodyPr wrap="square" lIns="0" rIns="0" tIns="0" bIns="0" anchor="t">
            <a:spAutoFit/>
          </a:bodyPr>
          <a:lstStyle/>
          <a:p>
            <a:pPr algn="l">
              <a:lnSpc>
                <a:spcPct val="110000"/>
              </a:lnSpc>
              <a:spcAft>
                <a:spcPts val="600"/>
              </a:spcAft>
            </a:pPr>
            <a:r>
              <a:rPr sz="1050" b="0" i="0">
                <a:solidFill>
                  <a:srgbClr val="555555"/>
                </a:solidFill>
                <a:latin typeface="Arial"/>
              </a:rPr>
              <a:t>relative composition variability · animals → 3 datasets</a:t>
            </a:r>
          </a:p>
        </p:txBody>
      </p:sp>
      <p:sp>
        <p:nvSpPr>
          <p:cNvPr id="11" name="TextBox 10"/>
          <p:cNvSpPr txBox="1"/>
          <p:nvPr/>
        </p:nvSpPr>
        <p:spPr>
          <a:xfrm>
            <a:off x="4069080" y="2651760"/>
            <a:ext cx="457200" cy="256032"/>
          </a:xfrm>
          <a:prstGeom prst="rect">
            <a:avLst/>
          </a:prstGeom>
          <a:noFill/>
        </p:spPr>
        <p:txBody>
          <a:bodyPr wrap="square" lIns="0" rIns="0" tIns="0" bIns="0" anchor="t">
            <a:spAutoFit/>
          </a:bodyPr>
          <a:lstStyle/>
          <a:p>
            <a:pPr algn="r">
              <a:lnSpc>
                <a:spcPct val="110000"/>
              </a:lnSpc>
              <a:spcAft>
                <a:spcPts val="600"/>
              </a:spcAft>
            </a:pPr>
            <a:r>
              <a:rPr sz="1100" b="1" i="0">
                <a:solidFill>
                  <a:srgbClr val="0072B2"/>
                </a:solidFill>
                <a:latin typeface="Arial"/>
              </a:rPr>
              <a:t>ok</a:t>
            </a:r>
          </a:p>
        </p:txBody>
      </p:sp>
      <p:sp>
        <p:nvSpPr>
          <p:cNvPr id="12" name="Rounded Rectangle 11"/>
          <p:cNvSpPr/>
          <p:nvPr/>
        </p:nvSpPr>
        <p:spPr>
          <a:xfrm>
            <a:off x="749808" y="3227832"/>
            <a:ext cx="3822191" cy="548640"/>
          </a:xfrm>
          <a:prstGeom prst="roundRect">
            <a:avLst>
              <a:gd name="adj" fmla="val 8000"/>
            </a:avLst>
          </a:prstGeom>
          <a:solidFill>
            <a:srgbClr val="E5F1F8"/>
          </a:solidFill>
          <a:ln>
            <a:noFill/>
          </a:ln>
          <a:effectLst/>
        </p:spPr>
        <p:txBody>
          <a:bodyPr rtlCol="0" anchor="ctr"/>
          <a:lstStyle/>
          <a:p/>
        </p:txBody>
      </p:sp>
      <p:sp>
        <p:nvSpPr>
          <p:cNvPr id="13" name="TextBox 12"/>
          <p:cNvSpPr txBox="1"/>
          <p:nvPr/>
        </p:nvSpPr>
        <p:spPr>
          <a:xfrm>
            <a:off x="896112" y="3273552"/>
            <a:ext cx="3017520" cy="256032"/>
          </a:xfrm>
          <a:prstGeom prst="rect">
            <a:avLst/>
          </a:prstGeom>
          <a:noFill/>
        </p:spPr>
        <p:txBody>
          <a:bodyPr wrap="square" lIns="0" rIns="0" tIns="0" bIns="0" anchor="t">
            <a:spAutoFit/>
          </a:bodyPr>
          <a:lstStyle/>
          <a:p>
            <a:pPr algn="l">
              <a:lnSpc>
                <a:spcPct val="110000"/>
              </a:lnSpc>
              <a:spcAft>
                <a:spcPts val="600"/>
              </a:spcAft>
            </a:pPr>
            <a:r>
              <a:rPr sz="1200" b="1" i="0">
                <a:solidFill>
                  <a:srgbClr val="1A1A1A"/>
                </a:solidFill>
                <a:latin typeface="Arial"/>
              </a:rPr>
              <a:t>PhyKIT metrics 0.2.0+galaxy0</a:t>
            </a:r>
          </a:p>
        </p:txBody>
      </p:sp>
      <p:sp>
        <p:nvSpPr>
          <p:cNvPr id="14" name="TextBox 13"/>
          <p:cNvSpPr txBox="1"/>
          <p:nvPr/>
        </p:nvSpPr>
        <p:spPr>
          <a:xfrm>
            <a:off x="896112" y="3502152"/>
            <a:ext cx="3566160" cy="256032"/>
          </a:xfrm>
          <a:prstGeom prst="rect">
            <a:avLst/>
          </a:prstGeom>
          <a:noFill/>
        </p:spPr>
        <p:txBody>
          <a:bodyPr wrap="square" lIns="0" rIns="0" tIns="0" bIns="0" anchor="t">
            <a:spAutoFit/>
          </a:bodyPr>
          <a:lstStyle/>
          <a:p>
            <a:pPr algn="l">
              <a:lnSpc>
                <a:spcPct val="110000"/>
              </a:lnSpc>
              <a:spcAft>
                <a:spcPts val="600"/>
              </a:spcAft>
            </a:pPr>
            <a:r>
              <a:rPr sz="1050" b="0" i="0">
                <a:solidFill>
                  <a:srgbClr val="555555"/>
                </a:solidFill>
                <a:latin typeface="Arial"/>
              </a:rPr>
              <a:t>relative composition variability · fungi → 3 datasets</a:t>
            </a:r>
          </a:p>
        </p:txBody>
      </p:sp>
      <p:sp>
        <p:nvSpPr>
          <p:cNvPr id="15" name="TextBox 14"/>
          <p:cNvSpPr txBox="1"/>
          <p:nvPr/>
        </p:nvSpPr>
        <p:spPr>
          <a:xfrm>
            <a:off x="4069080" y="3273552"/>
            <a:ext cx="457200" cy="256032"/>
          </a:xfrm>
          <a:prstGeom prst="rect">
            <a:avLst/>
          </a:prstGeom>
          <a:noFill/>
        </p:spPr>
        <p:txBody>
          <a:bodyPr wrap="square" lIns="0" rIns="0" tIns="0" bIns="0" anchor="t">
            <a:spAutoFit/>
          </a:bodyPr>
          <a:lstStyle/>
          <a:p>
            <a:pPr algn="r">
              <a:lnSpc>
                <a:spcPct val="110000"/>
              </a:lnSpc>
              <a:spcAft>
                <a:spcPts val="600"/>
              </a:spcAft>
            </a:pPr>
            <a:r>
              <a:rPr sz="1100" b="1" i="0">
                <a:solidFill>
                  <a:srgbClr val="0072B2"/>
                </a:solidFill>
                <a:latin typeface="Arial"/>
              </a:rPr>
              <a:t>ok</a:t>
            </a:r>
          </a:p>
        </p:txBody>
      </p:sp>
      <p:sp>
        <p:nvSpPr>
          <p:cNvPr id="16" name="Rounded Rectangle 15"/>
          <p:cNvSpPr/>
          <p:nvPr/>
        </p:nvSpPr>
        <p:spPr>
          <a:xfrm>
            <a:off x="749808" y="3849624"/>
            <a:ext cx="3822191" cy="548640"/>
          </a:xfrm>
          <a:prstGeom prst="roundRect">
            <a:avLst>
              <a:gd name="adj" fmla="val 8000"/>
            </a:avLst>
          </a:prstGeom>
          <a:solidFill>
            <a:srgbClr val="E5F1F8"/>
          </a:solidFill>
          <a:ln>
            <a:noFill/>
          </a:ln>
          <a:effectLst/>
        </p:spPr>
        <p:txBody>
          <a:bodyPr rtlCol="0" anchor="ctr"/>
          <a:lstStyle/>
          <a:p/>
        </p:txBody>
      </p:sp>
      <p:sp>
        <p:nvSpPr>
          <p:cNvPr id="17" name="TextBox 16"/>
          <p:cNvSpPr txBox="1"/>
          <p:nvPr/>
        </p:nvSpPr>
        <p:spPr>
          <a:xfrm>
            <a:off x="896112" y="3895344"/>
            <a:ext cx="3017520" cy="256032"/>
          </a:xfrm>
          <a:prstGeom prst="rect">
            <a:avLst/>
          </a:prstGeom>
          <a:noFill/>
        </p:spPr>
        <p:txBody>
          <a:bodyPr wrap="square" lIns="0" rIns="0" tIns="0" bIns="0" anchor="t">
            <a:spAutoFit/>
          </a:bodyPr>
          <a:lstStyle/>
          <a:p>
            <a:pPr algn="l">
              <a:lnSpc>
                <a:spcPct val="110000"/>
              </a:lnSpc>
              <a:spcAft>
                <a:spcPts val="600"/>
              </a:spcAft>
            </a:pPr>
            <a:r>
              <a:rPr sz="1200" b="1" i="0">
                <a:solidFill>
                  <a:srgbClr val="1A1A1A"/>
                </a:solidFill>
                <a:latin typeface="Arial"/>
              </a:rPr>
              <a:t>Nonparametric rank tests 0.1.0+galaxy2</a:t>
            </a:r>
          </a:p>
        </p:txBody>
      </p:sp>
      <p:sp>
        <p:nvSpPr>
          <p:cNvPr id="18" name="TextBox 17"/>
          <p:cNvSpPr txBox="1"/>
          <p:nvPr/>
        </p:nvSpPr>
        <p:spPr>
          <a:xfrm>
            <a:off x="896112" y="4123944"/>
            <a:ext cx="3566160" cy="256032"/>
          </a:xfrm>
          <a:prstGeom prst="rect">
            <a:avLst/>
          </a:prstGeom>
          <a:noFill/>
        </p:spPr>
        <p:txBody>
          <a:bodyPr wrap="square" lIns="0" rIns="0" tIns="0" bIns="0" anchor="t">
            <a:spAutoFit/>
          </a:bodyPr>
          <a:lstStyle/>
          <a:p>
            <a:pPr algn="l">
              <a:lnSpc>
                <a:spcPct val="110000"/>
              </a:lnSpc>
              <a:spcAft>
                <a:spcPts val="600"/>
              </a:spcAft>
            </a:pPr>
            <a:r>
              <a:rPr sz="1050" b="0" i="0">
                <a:solidFill>
                  <a:srgbClr val="555555"/>
                </a:solidFill>
                <a:latin typeface="Arial"/>
              </a:rPr>
              <a:t>Mann–Whitney U, animal vs fungal → 1 dataset</a:t>
            </a:r>
          </a:p>
        </p:txBody>
      </p:sp>
      <p:sp>
        <p:nvSpPr>
          <p:cNvPr id="19" name="TextBox 18"/>
          <p:cNvSpPr txBox="1"/>
          <p:nvPr/>
        </p:nvSpPr>
        <p:spPr>
          <a:xfrm>
            <a:off x="4069080" y="3895344"/>
            <a:ext cx="457200" cy="256032"/>
          </a:xfrm>
          <a:prstGeom prst="rect">
            <a:avLst/>
          </a:prstGeom>
          <a:noFill/>
        </p:spPr>
        <p:txBody>
          <a:bodyPr wrap="square" lIns="0" rIns="0" tIns="0" bIns="0" anchor="t">
            <a:spAutoFit/>
          </a:bodyPr>
          <a:lstStyle/>
          <a:p>
            <a:pPr algn="r">
              <a:lnSpc>
                <a:spcPct val="110000"/>
              </a:lnSpc>
              <a:spcAft>
                <a:spcPts val="600"/>
              </a:spcAft>
            </a:pPr>
            <a:r>
              <a:rPr sz="1100" b="1" i="0">
                <a:solidFill>
                  <a:srgbClr val="0072B2"/>
                </a:solidFill>
                <a:latin typeface="Arial"/>
              </a:rPr>
              <a:t>ok</a:t>
            </a:r>
          </a:p>
        </p:txBody>
      </p:sp>
      <p:sp>
        <p:nvSpPr>
          <p:cNvPr id="20" name="TextBox 19"/>
          <p:cNvSpPr txBox="1"/>
          <p:nvPr/>
        </p:nvSpPr>
        <p:spPr>
          <a:xfrm>
            <a:off x="548640" y="4709160"/>
            <a:ext cx="4206240" cy="822960"/>
          </a:xfrm>
          <a:prstGeom prst="rect">
            <a:avLst/>
          </a:prstGeom>
          <a:noFill/>
        </p:spPr>
        <p:txBody>
          <a:bodyPr wrap="square" lIns="0" rIns="0" tIns="0" bIns="0" anchor="t">
            <a:spAutoFit/>
          </a:bodyPr>
          <a:lstStyle/>
          <a:p>
            <a:pPr algn="l">
              <a:lnSpc>
                <a:spcPct val="105000"/>
              </a:lnSpc>
              <a:spcAft>
                <a:spcPts val="600"/>
              </a:spcAft>
            </a:pPr>
            <a:r>
              <a:rPr sz="1250" b="0" i="0">
                <a:solidFill>
                  <a:srgbClr val="555555"/>
                </a:solidFill>
                <a:latin typeface="Arial"/>
              </a:rPr>
              <a:t>Tool versions, parameters, datasets and job states: reviewable in Galaxy and rerunnable without model tokens.</a:t>
            </a:r>
          </a:p>
        </p:txBody>
      </p:sp>
      <p:sp>
        <p:nvSpPr>
          <p:cNvPr id="21" name="Rounded Rectangle 20"/>
          <p:cNvSpPr/>
          <p:nvPr/>
        </p:nvSpPr>
        <p:spPr>
          <a:xfrm>
            <a:off x="548640" y="5440680"/>
            <a:ext cx="4206240" cy="868680"/>
          </a:xfrm>
          <a:prstGeom prst="roundRect">
            <a:avLst>
              <a:gd name="adj" fmla="val 8000"/>
            </a:avLst>
          </a:prstGeom>
          <a:solidFill>
            <a:srgbClr val="F4F5F6"/>
          </a:solidFill>
          <a:ln>
            <a:noFill/>
          </a:ln>
          <a:effectLst/>
        </p:spPr>
        <p:txBody>
          <a:bodyPr rtlCol="0" anchor="ctr"/>
          <a:lstStyle/>
          <a:p/>
        </p:txBody>
      </p:sp>
      <p:sp>
        <p:nvSpPr>
          <p:cNvPr id="22" name="TextBox 21"/>
          <p:cNvSpPr txBox="1"/>
          <p:nvPr/>
        </p:nvSpPr>
        <p:spPr>
          <a:xfrm>
            <a:off x="731520" y="5486400"/>
            <a:ext cx="3886200" cy="777240"/>
          </a:xfrm>
          <a:prstGeom prst="rect">
            <a:avLst/>
          </a:prstGeom>
          <a:noFill/>
        </p:spPr>
        <p:txBody>
          <a:bodyPr wrap="square" lIns="0" rIns="0" tIns="0" bIns="0" anchor="ctr">
            <a:spAutoFit/>
          </a:bodyPr>
          <a:lstStyle/>
          <a:p>
            <a:pPr algn="l">
              <a:lnSpc>
                <a:spcPct val="105000"/>
              </a:lnSpc>
              <a:spcAft>
                <a:spcPts val="600"/>
              </a:spcAft>
            </a:pPr>
            <a:r>
              <a:rPr sz="1150" b="1" i="0">
                <a:solidFill>
                  <a:srgbClr val="1A1A1A"/>
                </a:solidFill>
                <a:latin typeface="Arial"/>
              </a:rPr>
              <a:t>Where the tokens went: </a:t>
            </a:r>
            <a:r>
              <a:rPr sz="1150" b="0" i="0">
                <a:solidFill>
                  <a:srgbClr val="1A1A1A"/>
                </a:solidFill>
                <a:latin typeface="Arial"/>
              </a:rPr>
              <a:t>95% of Galaxy tokens were cached input; 2.66× as many agent steps, each with 2.2× as much context. Cost = round trips × context size.</a:t>
            </a:r>
          </a:p>
        </p:txBody>
      </p:sp>
      <p:pic>
        <p:nvPicPr>
          <p:cNvPr id="23" name="Picture 22" descr="deck_result4_tokens.png"/>
          <p:cNvPicPr>
            <a:picLocks noChangeAspect="1"/>
          </p:cNvPicPr>
          <p:nvPr/>
        </p:nvPicPr>
        <p:blipFill>
          <a:blip r:embed="rId2"/>
          <a:stretch>
            <a:fillRect/>
          </a:stretch>
        </p:blipFill>
        <p:spPr>
          <a:xfrm>
            <a:off x="4937760" y="1783080"/>
            <a:ext cx="6766560" cy="4262054"/>
          </a:xfrm>
          <a:prstGeom prst="rect">
            <a:avLst/>
          </a:prstGeom>
        </p:spPr>
      </p:pic>
      <p:sp>
        <p:nvSpPr>
          <p:cNvPr id="24" name="TextBox 23"/>
          <p:cNvSpPr txBox="1"/>
          <p:nvPr/>
        </p:nvSpPr>
        <p:spPr>
          <a:xfrm>
            <a:off x="548640" y="6428232"/>
            <a:ext cx="10241280" cy="320040"/>
          </a:xfrm>
          <a:prstGeom prst="rect">
            <a:avLst/>
          </a:prstGeom>
          <a:noFill/>
        </p:spPr>
        <p:txBody>
          <a:bodyPr wrap="square" lIns="0" rIns="0" tIns="0" bIns="0" anchor="t">
            <a:spAutoFit/>
          </a:bodyPr>
          <a:lstStyle/>
          <a:p>
            <a:pPr algn="l">
              <a:lnSpc>
                <a:spcPct val="100000"/>
              </a:lnSpc>
              <a:spcAft>
                <a:spcPts val="600"/>
              </a:spcAft>
            </a:pPr>
            <a:r>
              <a:rPr sz="1000" b="0" i="0">
                <a:solidFill>
                  <a:srgbClr val="555555"/>
                </a:solidFill>
                <a:latin typeface="Arial"/>
              </a:rPr>
              <a:t>BixBench-Verified-50. Not a controlled ablation; ~20× and ~8× are one run per task, not yet on the results site. Main runs: 4.2× BixBench, 2.7× CompBioBench, 0.92× IWC.</a:t>
            </a:r>
          </a:p>
        </p:txBody>
      </p:sp>
      <p:sp>
        <p:nvSpPr>
          <p:cNvPr id="25" name="TextBox 24"/>
          <p:cNvSpPr txBox="1"/>
          <p:nvPr/>
        </p:nvSpPr>
        <p:spPr>
          <a:xfrm>
            <a:off x="11064240" y="6428232"/>
            <a:ext cx="594360" cy="274320"/>
          </a:xfrm>
          <a:prstGeom prst="rect">
            <a:avLst/>
          </a:prstGeom>
          <a:noFill/>
        </p:spPr>
        <p:txBody>
          <a:bodyPr wrap="square" lIns="0" rIns="0" tIns="0" bIns="0" anchor="t">
            <a:spAutoFit/>
          </a:bodyPr>
          <a:lstStyle/>
          <a:p>
            <a:pPr algn="r">
              <a:lnSpc>
                <a:spcPct val="110000"/>
              </a:lnSpc>
              <a:spcAft>
                <a:spcPts val="600"/>
              </a:spcAft>
            </a:pPr>
            <a:r>
              <a:rPr sz="1000" b="0" i="0">
                <a:solidFill>
                  <a:srgbClr val="555555"/>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84048"/>
            <a:ext cx="73152" cy="274320"/>
          </a:xfrm>
          <a:prstGeom prst="rect">
            <a:avLst/>
          </a:prstGeom>
          <a:solidFill>
            <a:srgbClr val="0072B2"/>
          </a:solidFill>
          <a:ln>
            <a:noFill/>
          </a:ln>
          <a:effectLst/>
        </p:spPr>
        <p:txBody>
          <a:bodyPr rtlCol="0" anchor="ctr"/>
          <a:lstStyle/>
          <a:p/>
        </p:txBody>
      </p:sp>
      <p:sp>
        <p:nvSpPr>
          <p:cNvPr id="3" name="TextBox 2"/>
          <p:cNvSpPr txBox="1"/>
          <p:nvPr/>
        </p:nvSpPr>
        <p:spPr>
          <a:xfrm>
            <a:off x="731520" y="365760"/>
            <a:ext cx="10515600" cy="320040"/>
          </a:xfrm>
          <a:prstGeom prst="rect">
            <a:avLst/>
          </a:prstGeom>
          <a:noFill/>
        </p:spPr>
        <p:txBody>
          <a:bodyPr wrap="square" lIns="0" rIns="0" tIns="0" bIns="0" anchor="t">
            <a:spAutoFit/>
          </a:bodyPr>
          <a:lstStyle/>
          <a:p>
            <a:pPr algn="l">
              <a:lnSpc>
                <a:spcPct val="110000"/>
              </a:lnSpc>
              <a:spcAft>
                <a:spcPts val="600"/>
              </a:spcAft>
            </a:pPr>
            <a:r>
              <a:rPr sz="1250" b="1" i="0">
                <a:solidFill>
                  <a:srgbClr val="555555"/>
                </a:solidFill>
                <a:latin typeface="Arial"/>
              </a:rPr>
              <a:t>CONCLUSIONS</a:t>
            </a:r>
          </a:p>
        </p:txBody>
      </p:sp>
      <p:sp>
        <p:nvSpPr>
          <p:cNvPr id="4" name="TextBox 3"/>
          <p:cNvSpPr txBox="1"/>
          <p:nvPr/>
        </p:nvSpPr>
        <p:spPr>
          <a:xfrm>
            <a:off x="548640" y="749808"/>
            <a:ext cx="11064240" cy="1051560"/>
          </a:xfrm>
          <a:prstGeom prst="rect">
            <a:avLst/>
          </a:prstGeom>
          <a:noFill/>
        </p:spPr>
        <p:txBody>
          <a:bodyPr wrap="square" lIns="0" rIns="0" tIns="0" bIns="0" anchor="t">
            <a:spAutoFit/>
          </a:bodyPr>
          <a:lstStyle/>
          <a:p>
            <a:pPr algn="l">
              <a:lnSpc>
                <a:spcPct val="100000"/>
              </a:lnSpc>
              <a:spcAft>
                <a:spcPts val="600"/>
              </a:spcAft>
            </a:pPr>
            <a:r>
              <a:rPr sz="2200" b="1" i="0">
                <a:solidFill>
                  <a:srgbClr val="1A1A1A"/>
                </a:solidFill>
                <a:latin typeface="Arial"/>
              </a:rPr>
              <a:t>AI agents can perform bioinformatics analyses through Galaxy as accurately as with custom code, and the analyses are recorded, inspectable and rerunnable</a:t>
            </a:r>
          </a:p>
        </p:txBody>
      </p:sp>
      <p:sp>
        <p:nvSpPr>
          <p:cNvPr id="5" name="Rounded Rectangle 4"/>
          <p:cNvSpPr/>
          <p:nvPr/>
        </p:nvSpPr>
        <p:spPr>
          <a:xfrm>
            <a:off x="548640" y="1965960"/>
            <a:ext cx="5440680" cy="1261872"/>
          </a:xfrm>
          <a:prstGeom prst="roundRect">
            <a:avLst>
              <a:gd name="adj" fmla="val 8000"/>
            </a:avLst>
          </a:prstGeom>
          <a:solidFill>
            <a:srgbClr val="F4F5F6"/>
          </a:solidFill>
          <a:ln>
            <a:noFill/>
          </a:ln>
          <a:effectLst/>
        </p:spPr>
        <p:txBody>
          <a:bodyPr rtlCol="0" anchor="ctr"/>
          <a:lstStyle/>
          <a:p/>
        </p:txBody>
      </p:sp>
      <p:sp>
        <p:nvSpPr>
          <p:cNvPr id="6" name="Rectangle 5"/>
          <p:cNvSpPr/>
          <p:nvPr/>
        </p:nvSpPr>
        <p:spPr>
          <a:xfrm>
            <a:off x="548640" y="1965960"/>
            <a:ext cx="82296" cy="1261872"/>
          </a:xfrm>
          <a:prstGeom prst="rect">
            <a:avLst/>
          </a:prstGeom>
          <a:solidFill>
            <a:srgbClr val="0072B2"/>
          </a:solidFill>
          <a:ln>
            <a:noFill/>
          </a:ln>
          <a:effectLst/>
        </p:spPr>
        <p:txBody>
          <a:bodyPr rtlCol="0" anchor="ctr"/>
          <a:lstStyle/>
          <a:p/>
        </p:txBody>
      </p:sp>
      <p:sp>
        <p:nvSpPr>
          <p:cNvPr id="7" name="TextBox 6"/>
          <p:cNvSpPr txBox="1"/>
          <p:nvPr/>
        </p:nvSpPr>
        <p:spPr>
          <a:xfrm>
            <a:off x="822959" y="2093976"/>
            <a:ext cx="4983480" cy="320040"/>
          </a:xfrm>
          <a:prstGeom prst="rect">
            <a:avLst/>
          </a:prstGeom>
          <a:noFill/>
        </p:spPr>
        <p:txBody>
          <a:bodyPr wrap="square" lIns="0" rIns="0" tIns="0" bIns="0" anchor="t">
            <a:spAutoFit/>
          </a:bodyPr>
          <a:lstStyle/>
          <a:p>
            <a:pPr algn="l">
              <a:lnSpc>
                <a:spcPct val="110000"/>
              </a:lnSpc>
              <a:spcAft>
                <a:spcPts val="600"/>
              </a:spcAft>
            </a:pPr>
            <a:r>
              <a:rPr sz="1700" b="1" i="0">
                <a:solidFill>
                  <a:srgbClr val="1A1A1A"/>
                </a:solidFill>
                <a:latin typeface="Arial"/>
              </a:rPr>
              <a:t>Accuracy</a:t>
            </a:r>
          </a:p>
        </p:txBody>
      </p:sp>
      <p:sp>
        <p:nvSpPr>
          <p:cNvPr id="8" name="TextBox 7"/>
          <p:cNvSpPr txBox="1"/>
          <p:nvPr/>
        </p:nvSpPr>
        <p:spPr>
          <a:xfrm>
            <a:off x="822959" y="2441448"/>
            <a:ext cx="4983480" cy="777240"/>
          </a:xfrm>
          <a:prstGeom prst="rect">
            <a:avLst/>
          </a:prstGeom>
          <a:noFill/>
        </p:spPr>
        <p:txBody>
          <a:bodyPr wrap="square" lIns="0" rIns="0" tIns="0" bIns="0" anchor="t">
            <a:spAutoFit/>
          </a:bodyPr>
          <a:lstStyle/>
          <a:p>
            <a:pPr algn="l">
              <a:lnSpc>
                <a:spcPct val="105000"/>
              </a:lnSpc>
              <a:spcAft>
                <a:spcPts val="600"/>
              </a:spcAft>
            </a:pPr>
            <a:r>
              <a:rPr sz="1400" b="0" i="0">
                <a:solidFill>
                  <a:srgbClr val="555555"/>
                </a:solidFill>
                <a:latin typeface="Arial"/>
              </a:rPr>
              <a:t>Similar in the two conditions on every benchmark: +0.5 and +0.3 points; IWC +0.036 agreement.</a:t>
            </a:r>
          </a:p>
        </p:txBody>
      </p:sp>
      <p:sp>
        <p:nvSpPr>
          <p:cNvPr id="9" name="Rounded Rectangle 8"/>
          <p:cNvSpPr/>
          <p:nvPr/>
        </p:nvSpPr>
        <p:spPr>
          <a:xfrm>
            <a:off x="6126479" y="1965960"/>
            <a:ext cx="5440680" cy="1261872"/>
          </a:xfrm>
          <a:prstGeom prst="roundRect">
            <a:avLst>
              <a:gd name="adj" fmla="val 8000"/>
            </a:avLst>
          </a:prstGeom>
          <a:solidFill>
            <a:srgbClr val="F4F5F6"/>
          </a:solidFill>
          <a:ln>
            <a:noFill/>
          </a:ln>
          <a:effectLst/>
        </p:spPr>
        <p:txBody>
          <a:bodyPr rtlCol="0" anchor="ctr"/>
          <a:lstStyle/>
          <a:p/>
        </p:txBody>
      </p:sp>
      <p:sp>
        <p:nvSpPr>
          <p:cNvPr id="10" name="Rectangle 9"/>
          <p:cNvSpPr/>
          <p:nvPr/>
        </p:nvSpPr>
        <p:spPr>
          <a:xfrm>
            <a:off x="6126479" y="1965960"/>
            <a:ext cx="82296" cy="1261872"/>
          </a:xfrm>
          <a:prstGeom prst="rect">
            <a:avLst/>
          </a:prstGeom>
          <a:solidFill>
            <a:srgbClr val="0072B2"/>
          </a:solidFill>
          <a:ln>
            <a:noFill/>
          </a:ln>
          <a:effectLst/>
        </p:spPr>
        <p:txBody>
          <a:bodyPr rtlCol="0" anchor="ctr"/>
          <a:lstStyle/>
          <a:p/>
        </p:txBody>
      </p:sp>
      <p:sp>
        <p:nvSpPr>
          <p:cNvPr id="11" name="TextBox 10"/>
          <p:cNvSpPr txBox="1"/>
          <p:nvPr/>
        </p:nvSpPr>
        <p:spPr>
          <a:xfrm>
            <a:off x="6400799" y="2093976"/>
            <a:ext cx="4983480" cy="320040"/>
          </a:xfrm>
          <a:prstGeom prst="rect">
            <a:avLst/>
          </a:prstGeom>
          <a:noFill/>
        </p:spPr>
        <p:txBody>
          <a:bodyPr wrap="square" lIns="0" rIns="0" tIns="0" bIns="0" anchor="t">
            <a:spAutoFit/>
          </a:bodyPr>
          <a:lstStyle/>
          <a:p>
            <a:pPr algn="l">
              <a:lnSpc>
                <a:spcPct val="110000"/>
              </a:lnSpc>
              <a:spcAft>
                <a:spcPts val="600"/>
              </a:spcAft>
            </a:pPr>
            <a:r>
              <a:rPr sz="1700" b="1" i="0">
                <a:solidFill>
                  <a:srgbClr val="1A1A1A"/>
                </a:solidFill>
                <a:latin typeface="Arial"/>
              </a:rPr>
              <a:t>Errors</a:t>
            </a:r>
          </a:p>
        </p:txBody>
      </p:sp>
      <p:sp>
        <p:nvSpPr>
          <p:cNvPr id="12" name="TextBox 11"/>
          <p:cNvSpPr txBox="1"/>
          <p:nvPr/>
        </p:nvSpPr>
        <p:spPr>
          <a:xfrm>
            <a:off x="6400799" y="2441448"/>
            <a:ext cx="4983480" cy="777240"/>
          </a:xfrm>
          <a:prstGeom prst="rect">
            <a:avLst/>
          </a:prstGeom>
          <a:noFill/>
        </p:spPr>
        <p:txBody>
          <a:bodyPr wrap="square" lIns="0" rIns="0" tIns="0" bIns="0" anchor="t">
            <a:spAutoFit/>
          </a:bodyPr>
          <a:lstStyle/>
          <a:p>
            <a:pPr algn="l">
              <a:lnSpc>
                <a:spcPct val="105000"/>
              </a:lnSpc>
              <a:spcAft>
                <a:spcPts val="600"/>
              </a:spcAft>
            </a:pPr>
            <a:r>
              <a:rPr sz="1400" b="0" i="0">
                <a:solidFill>
                  <a:srgbClr val="555555"/>
                </a:solidFill>
                <a:latin typeface="Arial"/>
              </a:rPr>
              <a:t>Systematic errors come mostly from the benchmark; random errors mostly from missing validation.</a:t>
            </a:r>
          </a:p>
        </p:txBody>
      </p:sp>
      <p:sp>
        <p:nvSpPr>
          <p:cNvPr id="13" name="Rounded Rectangle 12"/>
          <p:cNvSpPr/>
          <p:nvPr/>
        </p:nvSpPr>
        <p:spPr>
          <a:xfrm>
            <a:off x="548640" y="3383280"/>
            <a:ext cx="5440680" cy="1261872"/>
          </a:xfrm>
          <a:prstGeom prst="roundRect">
            <a:avLst>
              <a:gd name="adj" fmla="val 8000"/>
            </a:avLst>
          </a:prstGeom>
          <a:solidFill>
            <a:srgbClr val="F4F5F6"/>
          </a:solidFill>
          <a:ln>
            <a:noFill/>
          </a:ln>
          <a:effectLst/>
        </p:spPr>
        <p:txBody>
          <a:bodyPr rtlCol="0" anchor="ctr"/>
          <a:lstStyle/>
          <a:p/>
        </p:txBody>
      </p:sp>
      <p:sp>
        <p:nvSpPr>
          <p:cNvPr id="14" name="Rectangle 13"/>
          <p:cNvSpPr/>
          <p:nvPr/>
        </p:nvSpPr>
        <p:spPr>
          <a:xfrm>
            <a:off x="548640" y="3383280"/>
            <a:ext cx="82296" cy="1261872"/>
          </a:xfrm>
          <a:prstGeom prst="rect">
            <a:avLst/>
          </a:prstGeom>
          <a:solidFill>
            <a:srgbClr val="0072B2"/>
          </a:solidFill>
          <a:ln>
            <a:noFill/>
          </a:ln>
          <a:effectLst/>
        </p:spPr>
        <p:txBody>
          <a:bodyPr rtlCol="0" anchor="ctr"/>
          <a:lstStyle/>
          <a:p/>
        </p:txBody>
      </p:sp>
      <p:sp>
        <p:nvSpPr>
          <p:cNvPr id="15" name="TextBox 14"/>
          <p:cNvSpPr txBox="1"/>
          <p:nvPr/>
        </p:nvSpPr>
        <p:spPr>
          <a:xfrm>
            <a:off x="822959" y="3511296"/>
            <a:ext cx="4983480" cy="320040"/>
          </a:xfrm>
          <a:prstGeom prst="rect">
            <a:avLst/>
          </a:prstGeom>
          <a:noFill/>
        </p:spPr>
        <p:txBody>
          <a:bodyPr wrap="square" lIns="0" rIns="0" tIns="0" bIns="0" anchor="t">
            <a:spAutoFit/>
          </a:bodyPr>
          <a:lstStyle/>
          <a:p>
            <a:pPr algn="l">
              <a:lnSpc>
                <a:spcPct val="110000"/>
              </a:lnSpc>
              <a:spcAft>
                <a:spcPts val="600"/>
              </a:spcAft>
            </a:pPr>
            <a:r>
              <a:rPr sz="1700" b="1" i="0">
                <a:solidFill>
                  <a:srgbClr val="1A1A1A"/>
                </a:solidFill>
                <a:latin typeface="Arial"/>
              </a:rPr>
              <a:t>Consensus</a:t>
            </a:r>
          </a:p>
        </p:txBody>
      </p:sp>
      <p:sp>
        <p:nvSpPr>
          <p:cNvPr id="16" name="TextBox 15"/>
          <p:cNvSpPr txBox="1"/>
          <p:nvPr/>
        </p:nvSpPr>
        <p:spPr>
          <a:xfrm>
            <a:off x="822959" y="3858768"/>
            <a:ext cx="4983480" cy="777240"/>
          </a:xfrm>
          <a:prstGeom prst="rect">
            <a:avLst/>
          </a:prstGeom>
          <a:noFill/>
        </p:spPr>
        <p:txBody>
          <a:bodyPr wrap="square" lIns="0" rIns="0" tIns="0" bIns="0" anchor="t">
            <a:spAutoFit/>
          </a:bodyPr>
          <a:lstStyle/>
          <a:p>
            <a:pPr algn="l">
              <a:lnSpc>
                <a:spcPct val="105000"/>
              </a:lnSpc>
              <a:spcAft>
                <a:spcPts val="600"/>
              </a:spcAft>
            </a:pPr>
            <a:r>
              <a:rPr sz="1400" b="0" i="0">
                <a:solidFill>
                  <a:srgbClr val="555555"/>
                </a:solidFill>
                <a:latin typeface="Arial"/>
              </a:rPr>
              <a:t>A vote helps a little; a validation step that picks the correct replicate would help more.</a:t>
            </a:r>
          </a:p>
        </p:txBody>
      </p:sp>
      <p:sp>
        <p:nvSpPr>
          <p:cNvPr id="17" name="Rounded Rectangle 16"/>
          <p:cNvSpPr/>
          <p:nvPr/>
        </p:nvSpPr>
        <p:spPr>
          <a:xfrm>
            <a:off x="6126479" y="3383280"/>
            <a:ext cx="5440680" cy="1261872"/>
          </a:xfrm>
          <a:prstGeom prst="roundRect">
            <a:avLst>
              <a:gd name="adj" fmla="val 8000"/>
            </a:avLst>
          </a:prstGeom>
          <a:solidFill>
            <a:srgbClr val="F4F5F6"/>
          </a:solidFill>
          <a:ln>
            <a:noFill/>
          </a:ln>
          <a:effectLst/>
        </p:spPr>
        <p:txBody>
          <a:bodyPr rtlCol="0" anchor="ctr"/>
          <a:lstStyle/>
          <a:p/>
        </p:txBody>
      </p:sp>
      <p:sp>
        <p:nvSpPr>
          <p:cNvPr id="18" name="Rectangle 17"/>
          <p:cNvSpPr/>
          <p:nvPr/>
        </p:nvSpPr>
        <p:spPr>
          <a:xfrm>
            <a:off x="6126479" y="3383280"/>
            <a:ext cx="82296" cy="1261872"/>
          </a:xfrm>
          <a:prstGeom prst="rect">
            <a:avLst/>
          </a:prstGeom>
          <a:solidFill>
            <a:srgbClr val="0072B2"/>
          </a:solidFill>
          <a:ln>
            <a:noFill/>
          </a:ln>
          <a:effectLst/>
        </p:spPr>
        <p:txBody>
          <a:bodyPr rtlCol="0" anchor="ctr"/>
          <a:lstStyle/>
          <a:p/>
        </p:txBody>
      </p:sp>
      <p:sp>
        <p:nvSpPr>
          <p:cNvPr id="19" name="TextBox 18"/>
          <p:cNvSpPr txBox="1"/>
          <p:nvPr/>
        </p:nvSpPr>
        <p:spPr>
          <a:xfrm>
            <a:off x="6400799" y="3511296"/>
            <a:ext cx="4983480" cy="320040"/>
          </a:xfrm>
          <a:prstGeom prst="rect">
            <a:avLst/>
          </a:prstGeom>
          <a:noFill/>
        </p:spPr>
        <p:txBody>
          <a:bodyPr wrap="square" lIns="0" rIns="0" tIns="0" bIns="0" anchor="t">
            <a:spAutoFit/>
          </a:bodyPr>
          <a:lstStyle/>
          <a:p>
            <a:pPr algn="l">
              <a:lnSpc>
                <a:spcPct val="110000"/>
              </a:lnSpc>
              <a:spcAft>
                <a:spcPts val="600"/>
              </a:spcAft>
            </a:pPr>
            <a:r>
              <a:rPr sz="1700" b="1" i="0">
                <a:solidFill>
                  <a:srgbClr val="1A1A1A"/>
                </a:solidFill>
                <a:latin typeface="Arial"/>
              </a:rPr>
              <a:t>Cost</a:t>
            </a:r>
          </a:p>
        </p:txBody>
      </p:sp>
      <p:sp>
        <p:nvSpPr>
          <p:cNvPr id="20" name="TextBox 19"/>
          <p:cNvSpPr txBox="1"/>
          <p:nvPr/>
        </p:nvSpPr>
        <p:spPr>
          <a:xfrm>
            <a:off x="6400799" y="3858768"/>
            <a:ext cx="4983480" cy="777240"/>
          </a:xfrm>
          <a:prstGeom prst="rect">
            <a:avLst/>
          </a:prstGeom>
          <a:noFill/>
        </p:spPr>
        <p:txBody>
          <a:bodyPr wrap="square" lIns="0" rIns="0" tIns="0" bIns="0" anchor="t">
            <a:spAutoFit/>
          </a:bodyPr>
          <a:lstStyle/>
          <a:p>
            <a:pPr algn="l">
              <a:lnSpc>
                <a:spcPct val="105000"/>
              </a:lnSpc>
              <a:spcAft>
                <a:spcPts val="600"/>
              </a:spcAft>
            </a:pPr>
            <a:r>
              <a:rPr sz="1400" b="0" i="0">
                <a:solidFill>
                  <a:srgbClr val="555555"/>
                </a:solidFill>
                <a:latin typeface="Arial"/>
              </a:rPr>
              <a:t>Agents as virtual users found the interface overheads; fixes cut Galaxy from about 20× to 1.53× custom code.</a:t>
            </a:r>
          </a:p>
        </p:txBody>
      </p:sp>
      <p:sp>
        <p:nvSpPr>
          <p:cNvPr id="21" name="TextBox 20"/>
          <p:cNvSpPr txBox="1"/>
          <p:nvPr/>
        </p:nvSpPr>
        <p:spPr>
          <a:xfrm>
            <a:off x="548640" y="4892040"/>
            <a:ext cx="11064240" cy="320040"/>
          </a:xfrm>
          <a:prstGeom prst="rect">
            <a:avLst/>
          </a:prstGeom>
          <a:noFill/>
        </p:spPr>
        <p:txBody>
          <a:bodyPr wrap="square" lIns="0" rIns="0" tIns="0" bIns="0" anchor="t">
            <a:spAutoFit/>
          </a:bodyPr>
          <a:lstStyle/>
          <a:p>
            <a:pPr algn="l">
              <a:lnSpc>
                <a:spcPct val="110000"/>
              </a:lnSpc>
              <a:spcAft>
                <a:spcPts val="600"/>
              </a:spcAft>
            </a:pPr>
            <a:r>
              <a:rPr sz="1550" b="1" i="0">
                <a:solidFill>
                  <a:srgbClr val="1A1A1A"/>
                </a:solidFill>
                <a:latin typeface="Arial"/>
              </a:rPr>
              <a:t>Implications to test next</a:t>
            </a:r>
          </a:p>
        </p:txBody>
      </p:sp>
      <p:sp>
        <p:nvSpPr>
          <p:cNvPr id="22" name="TextBox 21"/>
          <p:cNvSpPr txBox="1"/>
          <p:nvPr/>
        </p:nvSpPr>
        <p:spPr>
          <a:xfrm>
            <a:off x="548640" y="5230368"/>
            <a:ext cx="11064240" cy="822960"/>
          </a:xfrm>
          <a:prstGeom prst="rect">
            <a:avLst/>
          </a:prstGeom>
          <a:noFill/>
        </p:spPr>
        <p:txBody>
          <a:bodyPr wrap="square" lIns="0" rIns="0" tIns="0" bIns="0" anchor="t">
            <a:spAutoFit/>
          </a:bodyPr>
          <a:lstStyle/>
          <a:p>
            <a:pPr algn="l" marL="219456" indent="-219456">
              <a:lnSpc>
                <a:spcPct val="110000"/>
              </a:lnSpc>
              <a:spcAft>
                <a:spcPts val="400"/>
              </a:spcAft>
            </a:pPr>
            <a:r>
              <a:rPr sz="1400" b="1" i="0">
                <a:solidFill>
                  <a:srgbClr val="8A8A8A"/>
                </a:solidFill>
                <a:latin typeface="Arial"/>
              </a:rPr>
              <a:t>•  </a:t>
            </a:r>
            <a:r>
              <a:rPr sz="1400" b="0" i="0">
                <a:solidFill>
                  <a:srgbClr val="1A1A1A"/>
                </a:solidFill>
                <a:latin typeface="Arial"/>
              </a:rPr>
              <a:t>Galaxy makes rigor-improving approaches cheap: running several methods for the same step and comparing them, or validating results before reporting.</a:t>
            </a:r>
          </a:p>
          <a:p>
            <a:pPr algn="l" marL="219456" indent="-219456">
              <a:lnSpc>
                <a:spcPct val="110000"/>
              </a:lnSpc>
              <a:spcAft>
                <a:spcPts val="400"/>
              </a:spcAft>
            </a:pPr>
            <a:r>
              <a:rPr sz="1400" b="1" i="0">
                <a:solidFill>
                  <a:srgbClr val="8A8A8A"/>
                </a:solidFill>
                <a:latin typeface="Arial"/>
              </a:rPr>
              <a:t>•  </a:t>
            </a:r>
            <a:r>
              <a:rPr sz="1400" b="0" i="0">
                <a:solidFill>
                  <a:srgbClr val="1A1A1A"/>
                </a:solidFill>
                <a:latin typeface="Arial"/>
              </a:rPr>
              <a:t>Agent traces could become a routine source of usability evidence for scientific software.</a:t>
            </a:r>
          </a:p>
        </p:txBody>
      </p:sp>
      <p:sp>
        <p:nvSpPr>
          <p:cNvPr id="23" name="TextBox 22"/>
          <p:cNvSpPr txBox="1"/>
          <p:nvPr/>
        </p:nvSpPr>
        <p:spPr>
          <a:xfrm>
            <a:off x="548640" y="6428232"/>
            <a:ext cx="10241280" cy="320040"/>
          </a:xfrm>
          <a:prstGeom prst="rect">
            <a:avLst/>
          </a:prstGeom>
          <a:noFill/>
        </p:spPr>
        <p:txBody>
          <a:bodyPr wrap="square" lIns="0" rIns="0" tIns="0" bIns="0" anchor="t">
            <a:spAutoFit/>
          </a:bodyPr>
          <a:lstStyle/>
          <a:p>
            <a:pPr algn="l">
              <a:lnSpc>
                <a:spcPct val="100000"/>
              </a:lnSpc>
              <a:spcAft>
                <a:spcPts val="600"/>
              </a:spcAft>
            </a:pPr>
            <a:r>
              <a:rPr sz="1000" b="0" i="0">
                <a:solidFill>
                  <a:srgbClr val="555555"/>
                </a:solidFill>
                <a:latin typeface="Arial"/>
              </a:rPr>
              <a:t>Limitations: a fixed set of models and benchmarks, prompts that differ between conditions, and models that change quickly.</a:t>
            </a:r>
          </a:p>
        </p:txBody>
      </p:sp>
      <p:sp>
        <p:nvSpPr>
          <p:cNvPr id="24" name="TextBox 23"/>
          <p:cNvSpPr txBox="1"/>
          <p:nvPr/>
        </p:nvSpPr>
        <p:spPr>
          <a:xfrm>
            <a:off x="11064240" y="6428232"/>
            <a:ext cx="594360" cy="274320"/>
          </a:xfrm>
          <a:prstGeom prst="rect">
            <a:avLst/>
          </a:prstGeom>
          <a:noFill/>
        </p:spPr>
        <p:txBody>
          <a:bodyPr wrap="square" lIns="0" rIns="0" tIns="0" bIns="0" anchor="t">
            <a:spAutoFit/>
          </a:bodyPr>
          <a:lstStyle/>
          <a:p>
            <a:pPr algn="r">
              <a:lnSpc>
                <a:spcPct val="110000"/>
              </a:lnSpc>
              <a:spcAft>
                <a:spcPts val="600"/>
              </a:spcAft>
            </a:pPr>
            <a:r>
              <a:rPr sz="1000" b="0" i="0">
                <a:solidFill>
                  <a:srgbClr val="555555"/>
                </a:solidFill>
                <a:latin typeface="Arial"/>
              </a:rPr>
              <a:t>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